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19"/>
  </p:notesMasterIdLst>
  <p:handoutMasterIdLst>
    <p:handoutMasterId r:id="rId20"/>
  </p:handoutMasterIdLst>
  <p:sldIdLst>
    <p:sldId id="437" r:id="rId2"/>
    <p:sldId id="438" r:id="rId3"/>
    <p:sldId id="439" r:id="rId4"/>
    <p:sldId id="440" r:id="rId5"/>
    <p:sldId id="441" r:id="rId6"/>
    <p:sldId id="442" r:id="rId7"/>
    <p:sldId id="443" r:id="rId8"/>
    <p:sldId id="444" r:id="rId9"/>
    <p:sldId id="445" r:id="rId10"/>
    <p:sldId id="446" r:id="rId11"/>
    <p:sldId id="447" r:id="rId12"/>
    <p:sldId id="448" r:id="rId13"/>
    <p:sldId id="449" r:id="rId14"/>
    <p:sldId id="450" r:id="rId15"/>
    <p:sldId id="451" r:id="rId16"/>
    <p:sldId id="452" r:id="rId17"/>
    <p:sldId id="45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78014" autoAdjust="0"/>
  </p:normalViewPr>
  <p:slideViewPr>
    <p:cSldViewPr snapToGrid="0" showGuides="1">
      <p:cViewPr varScale="1">
        <p:scale>
          <a:sx n="97" d="100"/>
          <a:sy n="97" d="100"/>
        </p:scale>
        <p:origin x="696" y="200"/>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2026/7/3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2026/7/3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这一讲的主题是 Agentic Engineering，可以译作智能体工程。先交代这个题目的来历。过去两年，大语言模型写代码的能力从补全几行、生成一个函数，一路走到由智能体自主完成开分支、改多个文件、跑通测试再提交评审的完整工程任务。当写代码这件事的大部分由智能体完成时，软件工程真正要回答的问题就变了，人的工作还剩下什么，软件的可信从哪里来。所以这一讲不是一门工具课，不教某个具体产品怎么用，而是讨论工作模式的分化以及背后的工程原则。整讲的论证围绕一条主线展开，智能体可以接管打字，但接管不了理解，而软件的可信性，恰恰建立在有人理解之上。为了把这条主线讲透，我们会借用一篇四十年前的经典论文，丹麦计算机科学家彼得·瑙尔的编程即理论构建，来解释为什么理解如此重要；也会引用今年发布的行业遥测数据，展示忽视理解的代价已经在真实的工程组织里显形。这一讲的立场既不是为智能体唱赞歌，也不是替手工编程辩护，而是给出一套判断框架，帮助大家在具体任务面前做出专业的选择。接下来先看整讲要回答的六个问题。</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这一页是整讲的路线图，六个问题构成一条完整的论证链，值得先把链条本身讲清楚。第一个问题是三种编程模式，回答今天写代码到底有哪几种方式，这是给现象分类，建立讨论的坐标系。第二个问题是模型能力拐点，回答为什么智能体工程这个提法到现在才成立，这是给论题划定时间前提，如果模型能力不到位，后面的讨论就是空中楼阁。第三个问题是原型不等于系统，回答代码能跑是不是就够用了，这一步把讨论从演示场景拉回生产场景，引出可信性这个贯穿全讲的核心概念。第四个问题是编程即理论，回答可信到底从哪里来，这是整讲的理论核心，我们会引入瑙尔的经典论述，说明可信的根源在于有人持有关于代码为什么这样写的理论。第五个问题是理解力负债，回答没有人真懂代码会付出什么代价，这是把理论推论落到当下，用一个新概念和最新的行业数据说明风险已经真实发生。最后一个问题是可信性决策，回答什么时候该用哪种模式，把前面的全部分析收拢成一张可以直接使用的决策表。请注意这六个问题不是并列关系，而是层层递进，先分类现象，再确认前提，然后建立标准，接着给出理论解释，再评估风险，最后落到决策。听完整讲之后，希望每个人都能用自己的话回答这六个问题。下面从第一个问题开始，看看今天写代码有哪几种方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当前的软件开发中，三种模式是同时存在的，这一页先把它们的定义讲清楚。第一种是手工编程，也有人叫传统编程、人工编程，甚至戏称为古法编程，它的特征是人来写，并且写得严谨，每一行代码都经过人的思考和确认。第二种是 vibe coding，中文译法还没有统一，有人译作凭感觉编程，有人译作氛围编程、写意编程或者沉浸式编程，它的特征是智能体来写，人只做很低程度的监督，看到结果大致能跑就接受，不去深究代码本身。第三种是 agentic engineering，也就是智能体工程，特征同样是智能体来写，但人施加高强度的监督，用规格、测试、评审这些工程手段去约束和验证智能体的产出。理解这三种模式，关键是抓住背后的两个维度，第一个维度是代码由谁产生，人还是智能体，第二个维度是人的监督强度有多高。vibe coding 和 agentic engineering 在第一个维度上完全相同，都由智能体写，真正的分界在第二个维度，也就是人愿意为产出质量投入多少验证成本。还要强调一点，这三种模式不是新的淘汰旧的替代关系，而是共存关系，各自适用于不同性质的任务，同一位工程师在同一天里可能三种模式都用到，怎么选，第六部分的决策表会专门讨论。名字本身还在快速演化，重要的不是记住名字，而是记住那两个维度。那么智能体工程这个提法是谁给出的，为什么值得当作正式的名字，下一页看它的出处。</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智能体工程这个名字来自 Andrej Karpathy，中文一般译作安德烈·卡帕西。他是 OpenAI 的创始团队成员，担任过特斯拉的人工智能总监，在开发者社区有很高的影响力。值得一提的是，vibe coding 这个词同样出自他之手，是他在二〇二五年二月的一条帖子里随手创造的，一年之内传遍了整个行业。到了二〇二六年二月，他又发帖说，很多人试图为用大语言模型智能体写代码这件事取一个比 vibe coding 更准确的名字，而他个人目前最喜欢的是 agentic engineering。这段话里的两个用词都值得拆开来看。先看 agentic 这个词，他给出的理由是，新的默认工作方式是你百分之九十九的时间不再直接编写代码，而是在编排智能体，并对它们的工作实施监督。请注意编排和监督这两个动作，编排意味着把任务拆解、分配、设定边界，监督意味着检查、质询、把关，这两个动作恰恰都要求你懂工程，而不是可以外行操作的。再看 engineering 这个词，他的理由是要强调这里面有艺术、有科学、有专业性，是一门可以学习并且不断精进的技能，有着自己独特的深度。这个命名的意义在于它同时承认了两件事，一方面承认代码生产已经交给智能体，不必假装人还在逐行打字，另一方面拒绝把这件事浪漫化成不需要能力的凭感觉操作，坚持它仍然是工程，仍然有高下之分。换句话说，这个名字表达了一个立场，被自动化的是打字，不是专业性。不过这里马上出现一个疑问，智能体写代码的说法已经流行了两三年，为什么直到现在才谈得上智能体工程，下一页来看时间前提。</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这一页回答为什么是现在。页面上引用的是 Simon Willison 的一段话，他是 Web 框架 Django 的联合创造者，也是过去几年跟踪大语言模型进展最勤奋的独立开发者之一，以大量第一手实验著称，他的判断在开发者社区里有相当的分量。他说，在他的感受中，二〇二五年十一月发布的 GPT 五点二和 Opus 四点五确实代表了一个拐点，模型的增量进步突然越过了一条看不见的能力线，一下子，一大批更难的编程问题变得可以解决了。这段话值得仔细体会。所谓看不见的能力线，指的是这样一种现象，模型能力的提升本身是连续的，每一代都比上一代好一点，但任务的达成是有阈值的。当能力低于阈值时，智能体在复杂任务上频繁出错，越帮越忙，用户的体感是不可用；一旦越过阈值，同样幅度的提升就把一大批任务从做不成变成做得成，体感上是突变。这就是拐点的含义，连续的量变跨过阈值，表现为质变。卡帕西也有类似的判断，他在二〇二六年二月说过，编码智能体在二〇二五年十二月之前基本上是不能用的。两个人给出的时间点略有差别，但指向同一个区间，就是二〇二五年年底。这个时间前提对整讲的论证有严格的逻辑地位，正如幻灯片上那句话所说，若模型能力不达标，则智能体工程不成立，因为智能体产出的错误率太高时，人做监督的成本会超过智能体节省的成本，整个模式在经济上就不划算。反过来，正因为能力过线，大量生成成为现实，而大量生成马上把新的问题推到眼前，生成出来的代码，能跑就等于能用吗？这是下一页的问题。</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这一页引入整讲最重要的概念，可信性。先给定义，软件可信性问的不是代码现在跑没跑通，而是你有没有充分理由相信，换个时间、换种情况，它照样不出错。注意这个定义的重心落在理由上，可信不是一种感觉，而是一种有依据的判断，依据来自你为验证所做的投入。页面上的图正是按这个思路，把三种模式排在了一条光谱上，从左到右，可信性投入由低到高。最左端是 vibe coding，图中的标注是刻意放弃可信性，验证手段只有运行时观察加用户接受，也就是跑起来看一看，用着没出问题就算数，适用场景是原型和一次性代码，左端的说明是低投入、不保证。中间是 agentic engineering，代码由编排的智能体主完成，但配上了规格、测试、评审和可观测性这一整套工程手段，适用于长期维护的生产系统。最右端是手工编程，人逐行保证，是最重的可信性投入，图中标注它适用于核心边界和不变量，也就是系统中一旦出错代价最大的部位，右端的说明是高投入、多重基础设施保证。这张图要传达的关键信息有两点。第一，三种模式的本质差别不是先进与落后，而是可信性投入的多少，你为验证买多少单，就得到多少信心，天下没有免费的可信。第二，vibe coding 在图中的位置是完全合法的，刻意放弃可信性，在原型场景下是理性选择，问题不出在模式本身，而出在把原型场景的做法带进生产场景。而这恰恰是当下最常见的误区，一个能跑的原型让人误以为系统已经接近完成。下一页用一个具体的例子看这个误区有多深。</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看一个具体的例子。一位有二十五年急诊经验的王主任，用 Claude Code 搭出了一个急诊分诊的原型，准确率百分之八十九，他自己的评价是差不多能用了。这个例子的前半段是真实的时代变化，领域专家第一次可以不经过工程团队，直接把专业知识变成能运行的软件。二十五年的分诊经验意味着他比任何工程师都更懂什么样的病人应该优先处理，这部分价值是实打实的，幻灯片左上角给领域专家打的那个对勾，就是承认这一点。但是，从差不多能用到真正部署在急诊室，中间隔着一整座冰山，幻灯片把水面下的部分列了出来，我们逐项看。容错降级，系统崩了怎么办，急诊室不能因为软件宕机而停摆，必须有降级预案。并发实时，一百个人同时使用时还能不能保持响应，原型往往只被一个人测试过。数据安全，病人的隐私谁来守护，医疗数据受严格的法律保护。审计合规，一旦分诊决策引发纠纷，能不能拿出完整记录，说清系统当时为什么这样判断。模型监控，线上模型会退化，当准确率从百分之八十九悄悄下滑时，谁能第一时间发现。系统集成，医院上了新设备、换了信息系统，它还接得上吗。请注意这六项有一个共同点，它们都不是分诊逻辑本身，王主任的专业完全覆盖不到，而它们恰恰决定这个系统能不能全天候可靠运行。所以这一页的结论是一个分工判断，领域专家能定义问题的逻辑，这是水面上的部分；让系统始终可靠的工程，是水面下的部分，这正是软件工程师在智能体时代的价值所在。工程师的工作不是被 AI 替代了，而是从写代码上移到了构建这座水下冰山。那么，冰山之上的可靠，根子上从哪里来，下一页给出理论回答。</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现在进入整讲的理论核心。一九八五年，丹麦计算机科学家彼得·瑙尔发表了一篇论文，题目是编程即理论构建，英文是 Programming as Theory Building。瑙尔是图灵奖得主，描述程序语言文法的巴科斯瑙尔范式，其中的瑙尔就是他。这篇论文提出一个与直觉相反的命题，编程的根本产物不是程序，而是程序员在头脑中建立起来的理论，也就是关于这个问题如何被这个程序求解的完整理解。这里的理论一词有特定的哲学来源，瑙尔借用了哲学家赖尔的观点，理论是一种能力，而不是一组命题的集合。什么意思呢，持有理论不等于能背出一堆关于程序的正确陈述，而是具备一种活的能力，面对关于这个程序的任何问题，无论问到哪个角落，都能给出有依据的回答。由此推出这篇论文最重要的推论，源代码只是这套理论写下来的有损投影。哪些东西投影得出来呢，代码能说清这段代码做了什么，输入是什么，输出是什么。哪些东西投影不出来呢，代码说不清为什么这么写，当时考虑过哪些备选方案，哪些边界情况被有意排除。请特别注意有损两个字，损失究竟在哪里。理论中有一大类知识，是关于不存在之物的。比如被否决的设计方案，它不在代码里，因为它被放弃了；比如被假定不会发生的输入，代码里没有处理它的分支，正因为设计者判断它不会出现；再比如被刻意保持的不变量，代码处处依赖它，却没有任何一行把它写出来。这些不存在之物恰恰是设计智慧最密集的地方，而写下来的产物里没有它们的位置。这就解释了为什么只靠读代码，永远无法完全恢复写代码的人所知道的东西。那么理论既然看不见摸不着，怎么判断一个人是否真的持有它，瑙尔给了三条判据，看下一页。</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瑙尔给出三条具体的判据，用来检验一个人是否真正持有某个程序的理论，这三条在今天可以直接当作评审和面试的工具来用。第一条是双向映射，持有理论的人能把程序的每一个部分对应到它所要解决的现实世界事务，在代码与问题域之间建立稳定的双向对应。注意双向两个字，从需求能指到代码，从代码也能指回需求，这远强于只知道某段代码的输入和输出，后者只是黑盒知识，前者才是理解。第二条是设计辩护，持有理论的人能为每一项设计选择给出辩护，尤其是当被问到为什么不那样写的时候。这一条的深意在于，它检验的不是你知不知道当前的解，而是你是否知道当前解所处的整个可能性空间，哪些路径被探索过，为什么被排除。一个只见过最终答案的人，回答不了这类问题，就像只背过定理而没有推过证明的学生，换个问法就露馅。第三条是有原则的扩展与修改，持有理论的人能对程序作有原则的扩展，所谓有原则，指新写的代码与原有代码共享同一套不变量、同一套问题域抽象，与原有结构浑然一体，而不是在缝隙里塞进一块能用但格格不入的补丁。大家可以用这三条自测一下自己手头维护的系统，能不能把每个模块讲回业务，能不能回答为什么不用另一种设计，做改动的时候是顺着原有抽象走，还是在打补丁。三条合起来指向同一个结论，这种能力无法从代码里读出来，也无法靠文档和测试完整传递，代码、文档、测试加起来，仍然装不下理论。既然理论只活在人的头脑里，那么当持有理论的人都离开，会发生什么，下一页看瑙尔那个著名的说法。</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瑙尔用了一个很重的词来描述理论失传之后的状态，程序已死。注意这个死的定义相当精确，失去理论的系统仍然能运行，二进制照常执行，服务照常响应，死掉的不是运行能力，而是被有意识地演化的能力。症状有两个，都很有辨识度。第一个症状是修复引发破坏，修一个 bug，看似无关的功能坏了，因为动手的人不知道那条把两处代码联系在一起的隐含约束。第二个症状是化石代码，重构的时候不断撞见这样的片段，这段逻辑为什么在这里，没有人记得，删掉怕出事，留着不知何用，只能绕着走。做过遗留系统维护的人，对这两个症状都不会陌生，银行和政府里那些没人敢动的老系统就是典型，它们还在运行，但组织已经失去了修改它们的信心，这正是程序死亡的含义。在传统软件开发里，程序死亡有一条清晰的触发路径，当所有原始团队成员离开，理论随人而去，程序随之死亡。所以有经验的组织本能地重视人员连续性，重视交接、结对、轮岗，实质都是在延续理论的存活。还要提醒一点，死亡这个比喻之所以贴切，在于它强调了不可逆，瑙尔认为理论一旦失传，靠读代码是无法复活它的，新团队只能重建一套自己的理论，而重建的成本往往接近重写。这听起来也许有些夸张，那么程序死亡在工程实践里到底表现为哪些具体代价，下一页展开三个场景。</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程序死亡不是抽象的哲学状态，这一页用三个具体场景说明它的代价，幻灯片上三个图标分别对应找不到、改不动和猜不准。第一个场景是生产事故的根因分析，图标画的是找不到根因。系统出了事故，排查到某个关键模块，却没有人讲得清它为什么写成这样，那些看起来多余的判断到底在防御什么，没人知道，于是根因定位不了，问题自然也解决不了，只能重启了事，等着它下次再犯。第二个场景是需求变更，图标画的是改不动。业务要在原有设计上扩展，但没有人说得清当初的约束和取舍，改动就像在雷区里走路，工程师不敢改也改不动，最后只剩两条路，要么推倒重来，付出整个系统重写的代价，要么硬着头皮改，埋下新的隐患。第三个场景最值得注意，AI 也读不懂，图标画的是智能体只能靠猜。有人期待智能体来拯救遗留系统，理由是代码它总读得懂。但请回想上一部分的结论，设计意图中最关键的部分是关于不存在之物的知识，根本没有写在代码里。没有被记录下来的设计意图，智能体接手时和新来的工程师一样只能靠猜，而它猜出来的改动往往看似合理，实则破坏了隐含约束，并且因为生成速度快、表面质量高，这类破坏比人手写的更难在评审里被发现。所以第三个场景告诉我们一件重要的事，AI 不能替代理论，反而是理论缺失的受害者。对一次性的小脚本，这三个代价都可以忽略，但对中大型的、生命周期以年计的真实项目，这是无法承受之重。既然如此，就要正面回答那个流行的问题了，AI 写代码，人到底还需不需要懂，下一页给出论证。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现在可以把前面的铺垫收拢成整讲最核心的论证了，分两步。第一步，信任的根本来源是什么。不是代码的行为正确性，测试全绿只能说明在测过的情况下它是对的，而可信性问的恰恰是没测过的情况。真正的来源，是有人持有关于代码为什么这样工作的理论，因为只有理论能回答那些测试覆盖不到的问题，这个输入到底会不会出现，这个改动会不会波及别处。所以模型再强，基准分数再高，只要没有人持有理论，代码能跑就不等于系统可信，这两件事之间没有推导关系。第二步，把瑙尔的框架套到智能体生成的代码上，会得到一个相当尖锐的结论。瑙尔讨论的程序死亡，路径是团队成员逐渐离开，理论随人流失，那是一个缓慢失血的过程。而当智能体写下大量代码，没有人跟上去建立理解的时候，发生的事情在结构上完全等价于团队全部离开，区别只在时间，这一次理论不是慢慢流失的，而是从第一天起就不存在，因为从来没有人持有过它。所以幻灯片上那句话虽然尖锐，却是严格推出来的，AI 生成的代码，一开始就死亡了，它一出生就处在瑙尔所说的死亡状态，能运行，但没有人能有意识地演化它。请注意这个结论的边界，它并不是说不该用 AI 写代码，而是说 AI 写下的代码需要有人为它重建理论，重建了，它就活了，是资产，没人重建，它就是负债。这笔负债最近有了一个正式的名字，叫理解力负债，下一页看它的定义和行为特征。</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理解力负债这个概念，由 Addy Osmani 在二〇二六年三月提出，他是谷歌的工程负责人，长期写作软件工程实践方面的文章，英文原词是 comprehension debt。定义很简洁，理解力负债等于系统中存在的代码量，与任何人真正理解的代码量之间，那个不断扩大的差距。在智能体时代，代码量以前所未有的速度增长，而人的理解速度基本不变，所以这个差距的扩大几乎是结构性的。这种负债最危险的性质是无声累积，并且滋生虚假信心。想一想 AI 生成代码的外观，命名规范，风格一致，看起来干净利落，测试甚至都能通过，所有表面指标都是健康的，然而没有人理解它的边界条件和隐含假设。于是负债在所有仪表盘都显示正常的情况下越积越多，直到某个事件触发的瞬间一次性兑付，比如一次诡异的生产事故，一次改不动的紧急需求，那时组织才发现自己欠了多少。为了看清它的特殊性，拿技术债来对比。技术债是沃德·坎宁安在一九九二年提出的比喻，指有意识地选择次优设计来换取交付速度，未来再还本付息。两者有两个关键差别。第一，技术债是有意识的选择，你知道自己在借债，理解力负债往往是无意识落下的，接受智能体产出的那一刻，你并不觉得自己借了什么。第二，技术债会通过摩擦自我报告，构建越来越慢，依赖越来越纠缠，改某个模块之前心里发怵，这些摩擦就是账单，会主动提醒你还钱。理解力负债恰恰没有这种自报告机制，它安静地潜伏，不产生任何日常摩擦，这正是它比技术债更危险的地方。诊断清楚了，接下来的问题就是怎么还，下一页给出三个可操作的抓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偿还理解力负债，这一页给出三个抓手，每一个都能直接落到团队的工程实践里。第一个抓手，把代码评审重新定位为理论传递。评审从来有两个功能，质量门禁和知识分发，过去我们偏重前者，挑语法，找缺陷。但在智能体的生成速度下，光做门禁已经不够了，评审者真正的工作要从找 bug 转向逼出代码背后的为什么，把隐含假设和设计取舍问出来，确保团队里至少有一个人能够脱离 AI 提示，独立讲清这段逻辑。这样做当然有代价，而且代价已经被测量出来了。Faros AI 发布的二〇二六年 AI 工程报告，遥测了两万两千名开发者，发现在高 AI 采用的组织里，PR 评审的中位时长上升了百分之四百四十一。这个数字通常被当作负面指标解读，但换个角度看，这是理论传递的真实工程成本第一次被看见。理解从来不是免费的，过去它的成本藏在写代码的过程里，现在写被智能体拿走了，理解的成本就只能显性地落在评审环节。第二个抓手，显式规格与章程文件。把为什么这么做写进规格文档，写进架构决策记录，也就是 A D R，写进供智能体阅读的章程文件，让智能体动手之前先读这份理论。这一步的实质，是把团队头脑中的心智模型显式外化成工程产物，供智能体和未来的工程师共同消费。但要保持清醒，回想瑙尔的有损投影，文字终究装不下完整的理论，写下来是必要的，不是充分的，文档替代不了活人头脑里鲜活的理论。第三个抓手，让负债先变得可见，再谈偿还，因为理解力负债的特点就是不自报告，所以第一步不是还，而是找。两个具体做法，一是定期做系统走查，让一个人沿着完整链路追一个请求，逐层讲清为什么这么写，讲不清的地方就是负债热点，标记出来，像技术债一样排进偿还的优先级；二是在 PR 流程里加一条探针问题，不看 AI 提示，你能讲清这段代码吗，答不上来，说明这条 PR 正在新增负债。三个抓手可以并行启动。不过，是否值得投入这么重的偿还成本，取决于任务本身的性质，这就引出最后一部分，可信性决策。</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AI 写代码，人需不需要懂，这个问题在社区里争论不休，很大程度上是因为提问的粒度太粗，一个懂字混淆了四件不同的事。这一页把它拆成四个层次，逐层看人是否必须在场。第一层是行为正确性，给定输入，产生预期输出。这一层有成熟的机械化保证手段，测试、类型系统、形式化方法，它们都不依赖人对代码的主观理解，所以在这一层，AI 能够独立达标，平时说 AI 写的代码通过了验证，指的就是这一层。第二层是因果可解释性，出错的时候，能不能在合理的时间内定位根因。注意测试在这里帮不上忙，测试只能告诉你哪个断言失败了，从失败现象回溯到原因，靠的是工程师对代码因果结构的理解，这正是瑙尔所说的理论的用武之地。第三层是变更可控性，修改 A 的时候，不会破坏 B、C 和 D。这依赖对系统全局不变量和模块间隐含依赖的把握，也就是理论持有，而 AI 不持有领域上下文，尤其不持有那些从未被写下来的隐性知识，组织里的惯例，历史上的教训，口头约定的边界，这些恰恰是变更风险的主要来源。第四层是责任可归属，出了事故谁负责，能不能通过合规审计。这一层已经不是技术问题，而是制度问题，法律和监管在结构上要求存在一个能够承担责任的人，智能体无法出庭，无法被追责，所以人在回路在这一层不是技术选择，而是制度必然。四层放在一起，答案就清楚了，第一层 AI 已经可以独立完成，后三层在可预见的将来都要求有人真正理解代码。而不同任务对四个层次的要求高低差别很大，这个差别正好构成一张决策表，下一页展开。</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最后落到操作层面，这张决策表回答什么任务该用什么模式。先讲表的读法，最左一列是任务类型，中间四列正是上一页拆出的四个层次，行为正确、因果可解释、变更可控、责任可归属，每个格子标注该任务对这个层次的要求高低，最右一列给出推荐的工作模式。核心命题就是标题下那句话，工作模式的选择不是个人偏好，而是任务画像的函数，先给任务在四个维度上画像，模式选择随之确定。逐行来看。第一行，一次性工具和探索性的 demo，只需要低度的行为正确，其余三个维度根本不在乎，用完就扔的代码谈不上变更和追责，所以 vibe coding 是完全理性的选择，在这一行强推工程规范反而是浪费。第二行，长期维护的内部工具，各维度都是中等要求，责任压力低，用轻量的 agentic 流程，有基本的规格和测试即可。第三行，面向用户的生产功能，前三个维度都是高要求，需要标准的 agentic engineering，完整的规格、测试、评审和可观测配置。第四行，安全关键与合规代码，四个维度全部极高，推荐 agentic 加手工核心，多数代码仍可由智能体生成，但核心路径必须由人手工把守。第五行，核心抽象，比如操作系统、数据库这类基础设施，四个维度同样极高，而且是其他一切软件的地基，推荐手工编程，这对应卡帕西那句话里剩下的部分，百分之九十九的时间在编排智能体，留下的百分之一，就交给这类代码。表格下面那行读法提示非常重要，同一名工程师，在同一天里，会在表格的不同行之间切换，上午为核心模块手写不变量检查，下午用 vibe coding 搭一个数据分析脚本，这两个选择同样专业。模式是任务的属性，不是工程师的身份标签，这是整张表最想传达的判断。</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dirty="0"/>
              <a:t>这一页收束整讲，把论证的链条完整地走一遍。起点是三种模式共存的现状，手工编程、vibe coding、agentic engineering，区别在于谁写代码，以及人监督多强。二〇二五年年底的模型能力拐点，让智能体工程第一次真正成立，这是时间前提。但原型不等于系统，能跑不等于可信，可信性是要用工程投入去购买的，这是价值标准。可信的根源，瑙尔在四十年前就说清楚了，是有人持有关于程序为什么这样工作的理论，代码只是理论的有损投影，无人持有理论的代码，一出生就处在死亡状态，这是理论解释。由此产生智能体时代特有的风险，理解力负债，无声累积，虚假信心，一次性兑付，这是风险诊断。应对之道不是拒绝智能体，而是把评审变成理论传递，把设计意图显式外化，让负债可见并有计划地偿还，最终按任务画像在可信性光谱上选择恰当的模式，这是行动方案。如果这门课只让大家带走一句话，我希望是这一句，智能体接管的是打字，不是理解，工程师的新工作，是编排，是监督，以及为系统持有那份活的理论。这一讲到这里结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t>2026/7/3</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x.com/karpathy/status/2019137879310836075?ref_src=twsrc%5Etfw%7Ctwcamp%5Etweetembed%7Ctwterm%5E2019137879310836075%7Ctwgr%5E9965693e6d080989f45a85483e16446495830bb4%7Ctwcon%5Es1_&amp;ref_url=https%3A%2F%2Fapp.clickup.com%2Ft%2F868hcr5xb"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sv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cap="all" dirty="0"/>
              <a:t>Agentic Engineering</a:t>
            </a:r>
            <a:endParaRPr lang="zh-CN" altLang="en-US" dirty="0"/>
          </a:p>
        </p:txBody>
      </p:sp>
      <p:sp>
        <p:nvSpPr>
          <p:cNvPr id="3" name="文本占位符 2"/>
          <p:cNvSpPr>
            <a:spLocks noGrp="1"/>
          </p:cNvSpPr>
          <p:nvPr>
            <p:ph type="body" sz="quarter" idx="11"/>
          </p:nvPr>
        </p:nvSpPr>
        <p:spPr/>
        <p:txBody>
          <a:bodyPr/>
          <a:lstStyle/>
          <a:p>
            <a:r>
              <a:rPr lang="en-US" altLang="zh-CN" dirty="0"/>
              <a:t>AI4SE</a:t>
            </a:r>
            <a:r>
              <a:rPr lang="zh-CN" altLang="en-US" dirty="0"/>
              <a:t> </a:t>
            </a:r>
            <a:r>
              <a:rPr lang="en-US" altLang="zh-CN" dirty="0"/>
              <a:t>2026</a:t>
            </a:r>
            <a:endParaRPr lang="zh-CN" altLang="en-US" dirty="0"/>
          </a:p>
        </p:txBody>
      </p:sp>
      <p:sp>
        <p:nvSpPr>
          <p:cNvPr id="4" name="文本占位符 3"/>
          <p:cNvSpPr>
            <a:spLocks noGrp="1"/>
          </p:cNvSpPr>
          <p:nvPr>
            <p:ph type="body" sz="quarter" idx="12"/>
          </p:nvPr>
        </p:nvSpPr>
        <p:spPr/>
        <p:txBody>
          <a:bodyPr/>
          <a:lstStyle/>
          <a:p>
            <a:r>
              <a:rPr lang="zh-CN" altLang="en-US" dirty="0"/>
              <a:t>南京大学 邵栋</a:t>
            </a:r>
          </a:p>
        </p:txBody>
      </p:sp>
    </p:spTree>
    <p:extLst>
      <p:ext uri="{BB962C8B-B14F-4D97-AF65-F5344CB8AC3E}">
        <p14:creationId xmlns:p14="http://schemas.microsoft.com/office/powerpoint/2010/main" val="18020275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295852" y="1476242"/>
            <a:ext cx="2814632" cy="755934"/>
            <a:chOff x="3381452" y="1483360"/>
            <a:chExt cx="2814632" cy="755934"/>
          </a:xfrm>
        </p:grpSpPr>
        <p:sp>
          <p:nvSpPr>
            <p:cNvPr id="3" name="文本框 2"/>
            <p:cNvSpPr txBox="1"/>
            <p:nvPr/>
          </p:nvSpPr>
          <p:spPr>
            <a:xfrm>
              <a:off x="4137386" y="1599716"/>
              <a:ext cx="2058698" cy="685800"/>
            </a:xfrm>
            <a:prstGeom prst="rect">
              <a:avLst/>
            </a:prstGeom>
            <a:noFill/>
          </p:spPr>
          <p:txBody>
            <a:bodyPr wrap="square" rtlCol="0">
              <a:spAutoFit/>
            </a:bodyPr>
            <a:lstStyle/>
            <a:p>
              <a:r>
                <a:rPr lang="en-US" altLang="zh-CN" sz="2400" b="1" dirty="0">
                  <a:solidFill>
                    <a:srgbClr val="000000"/>
                  </a:solidFill>
                </a:rPr>
                <a:t>三种编程模式</a:t>
              </a:r>
            </a:p>
            <a:p>
              <a:pPr algn="l">
                <a:spcBef>
                  <a:spcPts val="200"/>
                </a:spcBef>
                <a:buNone/>
              </a:pPr>
              <a:r>
                <a:rPr lang="en-US" sz="1300" i="1" dirty="0">
                  <a:solidFill>
                    <a:srgbClr val="8C8C8C"/>
                  </a:solidFill>
                </a:rPr>
                <a:t>有哪几种写法？</a:t>
              </a:r>
            </a:p>
          </p:txBody>
        </p:sp>
        <p:grpSp>
          <p:nvGrpSpPr>
            <p:cNvPr id="4" name="组合 3"/>
            <p:cNvGrpSpPr/>
            <p:nvPr/>
          </p:nvGrpSpPr>
          <p:grpSpPr>
            <a:xfrm>
              <a:off x="3381452" y="1483360"/>
              <a:ext cx="755934" cy="755934"/>
              <a:chOff x="3381452" y="1483360"/>
              <a:chExt cx="755934" cy="755934"/>
            </a:xfrm>
          </p:grpSpPr>
          <p:sp>
            <p:nvSpPr>
              <p:cNvPr id="5" name="文本框 4"/>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01</a:t>
                </a:r>
              </a:p>
            </p:txBody>
          </p:sp>
          <p:sp>
            <p:nvSpPr>
              <p:cNvPr id="6" name="矩形 5"/>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7" name="组合 6"/>
          <p:cNvGrpSpPr/>
          <p:nvPr/>
        </p:nvGrpSpPr>
        <p:grpSpPr>
          <a:xfrm>
            <a:off x="7467288" y="1476242"/>
            <a:ext cx="2814632" cy="755934"/>
            <a:chOff x="3381452" y="1483360"/>
            <a:chExt cx="2814632" cy="755934"/>
          </a:xfrm>
        </p:grpSpPr>
        <p:sp>
          <p:nvSpPr>
            <p:cNvPr id="8" name="文本框 7"/>
            <p:cNvSpPr txBox="1"/>
            <p:nvPr/>
          </p:nvSpPr>
          <p:spPr>
            <a:xfrm>
              <a:off x="4137386" y="1599716"/>
              <a:ext cx="2058698" cy="685800"/>
            </a:xfrm>
            <a:prstGeom prst="rect">
              <a:avLst/>
            </a:prstGeom>
            <a:noFill/>
          </p:spPr>
          <p:txBody>
            <a:bodyPr wrap="square" rtlCol="0">
              <a:spAutoFit/>
            </a:bodyPr>
            <a:lstStyle/>
            <a:p>
              <a:r>
                <a:rPr lang="en-US" altLang="zh-CN" sz="2400" b="1" dirty="0">
                  <a:solidFill>
                    <a:srgbClr val="000000"/>
                  </a:solidFill>
                </a:rPr>
                <a:t>模型能力拐点</a:t>
              </a:r>
              <a:endParaRPr lang="zh-CN" altLang="en-US" sz="2400" b="1" dirty="0">
                <a:solidFill>
                  <a:srgbClr val="000000"/>
                </a:solidFill>
              </a:endParaRPr>
            </a:p>
            <a:p>
              <a:pPr algn="l">
                <a:spcBef>
                  <a:spcPts val="200"/>
                </a:spcBef>
                <a:buNone/>
              </a:pPr>
              <a:r>
                <a:rPr lang="en-US" sz="1300" i="1" dirty="0">
                  <a:solidFill>
                    <a:srgbClr val="8C8C8C"/>
                  </a:solidFill>
                </a:rPr>
                <a:t>为何现在才成立？</a:t>
              </a:r>
            </a:p>
          </p:txBody>
        </p:sp>
        <p:grpSp>
          <p:nvGrpSpPr>
            <p:cNvPr id="9" name="组合 8"/>
            <p:cNvGrpSpPr/>
            <p:nvPr/>
          </p:nvGrpSpPr>
          <p:grpSpPr>
            <a:xfrm>
              <a:off x="3381452" y="1483360"/>
              <a:ext cx="755934" cy="755934"/>
              <a:chOff x="3381452" y="1483360"/>
              <a:chExt cx="755934" cy="755934"/>
            </a:xfrm>
          </p:grpSpPr>
          <p:sp>
            <p:nvSpPr>
              <p:cNvPr id="10" name="文本框 9"/>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02</a:t>
                </a:r>
              </a:p>
            </p:txBody>
          </p:sp>
          <p:sp>
            <p:nvSpPr>
              <p:cNvPr id="11" name="矩形 10"/>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12" name="组合 11"/>
          <p:cNvGrpSpPr/>
          <p:nvPr/>
        </p:nvGrpSpPr>
        <p:grpSpPr>
          <a:xfrm>
            <a:off x="4295852" y="3051032"/>
            <a:ext cx="2814632" cy="755934"/>
            <a:chOff x="3381452" y="1483360"/>
            <a:chExt cx="2814632" cy="755934"/>
          </a:xfrm>
        </p:grpSpPr>
        <p:sp>
          <p:nvSpPr>
            <p:cNvPr id="13" name="文本框 12"/>
            <p:cNvSpPr txBox="1"/>
            <p:nvPr/>
          </p:nvSpPr>
          <p:spPr>
            <a:xfrm>
              <a:off x="4137386" y="1599716"/>
              <a:ext cx="2058698" cy="685800"/>
            </a:xfrm>
            <a:prstGeom prst="rect">
              <a:avLst/>
            </a:prstGeom>
            <a:noFill/>
          </p:spPr>
          <p:txBody>
            <a:bodyPr wrap="square" rtlCol="0">
              <a:spAutoFit/>
            </a:bodyPr>
            <a:lstStyle/>
            <a:p>
              <a:r>
                <a:rPr lang="en-US" altLang="zh-CN" sz="2400" b="1" dirty="0">
                  <a:solidFill>
                    <a:srgbClr val="000000"/>
                  </a:solidFill>
                </a:rPr>
                <a:t>原型≠系统</a:t>
              </a:r>
              <a:endParaRPr lang="zh-CN" altLang="en-US" sz="2400" b="1" dirty="0">
                <a:solidFill>
                  <a:srgbClr val="000000"/>
                </a:solidFill>
              </a:endParaRPr>
            </a:p>
            <a:p>
              <a:pPr algn="l">
                <a:spcBef>
                  <a:spcPts val="200"/>
                </a:spcBef>
                <a:buNone/>
              </a:pPr>
              <a:r>
                <a:rPr lang="en-US" sz="1300" i="1" dirty="0">
                  <a:solidFill>
                    <a:srgbClr val="8C8C8C"/>
                  </a:solidFill>
                </a:rPr>
                <a:t>能跑就够用了吗？</a:t>
              </a:r>
            </a:p>
          </p:txBody>
        </p:sp>
        <p:grpSp>
          <p:nvGrpSpPr>
            <p:cNvPr id="14" name="组合 13"/>
            <p:cNvGrpSpPr/>
            <p:nvPr/>
          </p:nvGrpSpPr>
          <p:grpSpPr>
            <a:xfrm>
              <a:off x="3381452" y="1483360"/>
              <a:ext cx="755934" cy="755934"/>
              <a:chOff x="3381452" y="1483360"/>
              <a:chExt cx="755934" cy="755934"/>
            </a:xfrm>
          </p:grpSpPr>
          <p:sp>
            <p:nvSpPr>
              <p:cNvPr id="15" name="文本框 14"/>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03</a:t>
                </a:r>
              </a:p>
            </p:txBody>
          </p:sp>
          <p:sp>
            <p:nvSpPr>
              <p:cNvPr id="16" name="矩形 15"/>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17" name="组合 16"/>
          <p:cNvGrpSpPr/>
          <p:nvPr/>
        </p:nvGrpSpPr>
        <p:grpSpPr>
          <a:xfrm>
            <a:off x="7467288" y="3051032"/>
            <a:ext cx="2814632" cy="755934"/>
            <a:chOff x="3381452" y="1483360"/>
            <a:chExt cx="2814632" cy="755934"/>
          </a:xfrm>
        </p:grpSpPr>
        <p:sp>
          <p:nvSpPr>
            <p:cNvPr id="18" name="文本框 17"/>
            <p:cNvSpPr txBox="1"/>
            <p:nvPr/>
          </p:nvSpPr>
          <p:spPr>
            <a:xfrm>
              <a:off x="4137386" y="1599716"/>
              <a:ext cx="2058698" cy="685800"/>
            </a:xfrm>
            <a:prstGeom prst="rect">
              <a:avLst/>
            </a:prstGeom>
            <a:noFill/>
          </p:spPr>
          <p:txBody>
            <a:bodyPr wrap="square" rtlCol="0">
              <a:spAutoFit/>
            </a:bodyPr>
            <a:lstStyle/>
            <a:p>
              <a:r>
                <a:rPr lang="en-US" altLang="zh-CN" sz="2400" b="1" dirty="0">
                  <a:solidFill>
                    <a:srgbClr val="000000"/>
                  </a:solidFill>
                </a:rPr>
                <a:t>编程即理论</a:t>
              </a:r>
              <a:endParaRPr lang="zh-CN" altLang="en-US" sz="2400" b="1" dirty="0">
                <a:solidFill>
                  <a:srgbClr val="000000"/>
                </a:solidFill>
              </a:endParaRPr>
            </a:p>
            <a:p>
              <a:pPr algn="l">
                <a:spcBef>
                  <a:spcPts val="200"/>
                </a:spcBef>
                <a:buNone/>
              </a:pPr>
              <a:r>
                <a:rPr lang="en-US" sz="1300" i="1" dirty="0">
                  <a:solidFill>
                    <a:srgbClr val="8C8C8C"/>
                  </a:solidFill>
                </a:rPr>
                <a:t>可信从何而来？</a:t>
              </a:r>
            </a:p>
          </p:txBody>
        </p:sp>
        <p:grpSp>
          <p:nvGrpSpPr>
            <p:cNvPr id="19" name="组合 18"/>
            <p:cNvGrpSpPr/>
            <p:nvPr/>
          </p:nvGrpSpPr>
          <p:grpSpPr>
            <a:xfrm>
              <a:off x="3381452" y="1483360"/>
              <a:ext cx="755934" cy="755934"/>
              <a:chOff x="3381452" y="1483360"/>
              <a:chExt cx="755934" cy="755934"/>
            </a:xfrm>
          </p:grpSpPr>
          <p:sp>
            <p:nvSpPr>
              <p:cNvPr id="20" name="文本框 19"/>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04</a:t>
                </a:r>
              </a:p>
            </p:txBody>
          </p:sp>
          <p:sp>
            <p:nvSpPr>
              <p:cNvPr id="21" name="矩形 20"/>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22" name="组合 21"/>
          <p:cNvGrpSpPr/>
          <p:nvPr/>
        </p:nvGrpSpPr>
        <p:grpSpPr>
          <a:xfrm>
            <a:off x="4295852" y="4624255"/>
            <a:ext cx="2814632" cy="755934"/>
            <a:chOff x="3381452" y="1483360"/>
            <a:chExt cx="2814632" cy="755934"/>
          </a:xfrm>
        </p:grpSpPr>
        <p:sp>
          <p:nvSpPr>
            <p:cNvPr id="23" name="文本框 22"/>
            <p:cNvSpPr txBox="1"/>
            <p:nvPr/>
          </p:nvSpPr>
          <p:spPr>
            <a:xfrm>
              <a:off x="4137386" y="1599716"/>
              <a:ext cx="2058698" cy="685800"/>
            </a:xfrm>
            <a:prstGeom prst="rect">
              <a:avLst/>
            </a:prstGeom>
            <a:noFill/>
          </p:spPr>
          <p:txBody>
            <a:bodyPr wrap="square" rtlCol="0">
              <a:spAutoFit/>
            </a:bodyPr>
            <a:lstStyle/>
            <a:p>
              <a:r>
                <a:rPr lang="en-US" altLang="zh-CN" sz="2400" b="1" dirty="0">
                  <a:solidFill>
                    <a:srgbClr val="000000"/>
                  </a:solidFill>
                </a:rPr>
                <a:t>理解力负债</a:t>
              </a:r>
              <a:endParaRPr lang="zh-CN" altLang="en-US" sz="2400" b="1" dirty="0">
                <a:solidFill>
                  <a:srgbClr val="000000"/>
                </a:solidFill>
              </a:endParaRPr>
            </a:p>
            <a:p>
              <a:pPr algn="l">
                <a:spcBef>
                  <a:spcPts val="200"/>
                </a:spcBef>
                <a:buNone/>
              </a:pPr>
              <a:r>
                <a:rPr lang="en-US" sz="1300" i="1" dirty="0">
                  <a:solidFill>
                    <a:srgbClr val="8C8C8C"/>
                  </a:solidFill>
                </a:rPr>
                <a:t>不懂有何代价？</a:t>
              </a:r>
            </a:p>
          </p:txBody>
        </p:sp>
        <p:grpSp>
          <p:nvGrpSpPr>
            <p:cNvPr id="24" name="组合 23"/>
            <p:cNvGrpSpPr/>
            <p:nvPr/>
          </p:nvGrpSpPr>
          <p:grpSpPr>
            <a:xfrm>
              <a:off x="3381452" y="1483360"/>
              <a:ext cx="755934" cy="755934"/>
              <a:chOff x="3381452" y="1483360"/>
              <a:chExt cx="755934" cy="755934"/>
            </a:xfrm>
          </p:grpSpPr>
          <p:sp>
            <p:nvSpPr>
              <p:cNvPr id="25" name="文本框 24"/>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05</a:t>
                </a:r>
              </a:p>
            </p:txBody>
          </p:sp>
          <p:sp>
            <p:nvSpPr>
              <p:cNvPr id="26" name="矩形 25"/>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27" name="组合 26"/>
          <p:cNvGrpSpPr/>
          <p:nvPr/>
        </p:nvGrpSpPr>
        <p:grpSpPr>
          <a:xfrm>
            <a:off x="7467288" y="4624254"/>
            <a:ext cx="2814632" cy="755934"/>
            <a:chOff x="3381452" y="1483360"/>
            <a:chExt cx="2814632" cy="755934"/>
          </a:xfrm>
        </p:grpSpPr>
        <p:sp>
          <p:nvSpPr>
            <p:cNvPr id="28" name="文本框 27"/>
            <p:cNvSpPr txBox="1"/>
            <p:nvPr/>
          </p:nvSpPr>
          <p:spPr>
            <a:xfrm>
              <a:off x="4137386" y="1599716"/>
              <a:ext cx="2058698" cy="685800"/>
            </a:xfrm>
            <a:prstGeom prst="rect">
              <a:avLst/>
            </a:prstGeom>
            <a:noFill/>
          </p:spPr>
          <p:txBody>
            <a:bodyPr wrap="square" rtlCol="0">
              <a:spAutoFit/>
            </a:bodyPr>
            <a:lstStyle/>
            <a:p>
              <a:r>
                <a:rPr lang="en-US" altLang="zh-CN" sz="2400" b="1" dirty="0">
                  <a:solidFill>
                    <a:srgbClr val="000000"/>
                  </a:solidFill>
                </a:rPr>
                <a:t>可信性决策</a:t>
              </a:r>
              <a:endParaRPr lang="zh-CN" altLang="en-US" sz="2400" b="1" dirty="0">
                <a:solidFill>
                  <a:srgbClr val="000000"/>
                </a:solidFill>
              </a:endParaRPr>
            </a:p>
            <a:p>
              <a:pPr algn="l">
                <a:spcBef>
                  <a:spcPts val="200"/>
                </a:spcBef>
                <a:buNone/>
              </a:pPr>
              <a:r>
                <a:rPr lang="en-US" sz="1300" i="1" dirty="0">
                  <a:solidFill>
                    <a:srgbClr val="8C8C8C"/>
                  </a:solidFill>
                </a:rPr>
                <a:t>何时该用哪种？</a:t>
              </a:r>
            </a:p>
          </p:txBody>
        </p:sp>
        <p:grpSp>
          <p:nvGrpSpPr>
            <p:cNvPr id="29" name="组合 28"/>
            <p:cNvGrpSpPr/>
            <p:nvPr/>
          </p:nvGrpSpPr>
          <p:grpSpPr>
            <a:xfrm>
              <a:off x="3381452" y="1483360"/>
              <a:ext cx="755934" cy="755934"/>
              <a:chOff x="3381452" y="1483360"/>
              <a:chExt cx="755934" cy="755934"/>
            </a:xfrm>
          </p:grpSpPr>
          <p:sp>
            <p:nvSpPr>
              <p:cNvPr id="30" name="文本框 29"/>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06</a:t>
                </a:r>
              </a:p>
            </p:txBody>
          </p:sp>
          <p:sp>
            <p:nvSpPr>
              <p:cNvPr id="31" name="矩形 30"/>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spTree>
    <p:extLst>
      <p:ext uri="{BB962C8B-B14F-4D97-AF65-F5344CB8AC3E}">
        <p14:creationId xmlns:p14="http://schemas.microsoft.com/office/powerpoint/2010/main" val="20348238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2</a:t>
            </a:fld>
            <a:endParaRPr lang="zh-CN" altLang="en-US"/>
          </a:p>
        </p:txBody>
      </p:sp>
      <p:sp>
        <p:nvSpPr>
          <p:cNvPr id="3" name="文本占位符 2"/>
          <p:cNvSpPr>
            <a:spLocks noGrp="1"/>
          </p:cNvSpPr>
          <p:nvPr>
            <p:ph type="body" sz="quarter" idx="13"/>
          </p:nvPr>
        </p:nvSpPr>
        <p:spPr/>
        <p:txBody>
          <a:bodyPr/>
          <a:lstStyle/>
          <a:p>
            <a:r>
              <a:rPr kumimoji="1" lang="zh-CN" altLang="en-US" dirty="0"/>
              <a:t>当前软件开发有三种模式共存</a:t>
            </a:r>
          </a:p>
        </p:txBody>
      </p:sp>
      <p:sp>
        <p:nvSpPr>
          <p:cNvPr id="4" name="内容占位符 3"/>
          <p:cNvSpPr>
            <a:spLocks noGrp="1"/>
          </p:cNvSpPr>
          <p:nvPr>
            <p:ph idx="1"/>
          </p:nvPr>
        </p:nvSpPr>
        <p:spPr/>
        <p:txBody>
          <a:bodyPr>
            <a:normAutofit/>
          </a:bodyPr>
          <a:lstStyle/>
          <a:p>
            <a:r>
              <a:rPr kumimoji="1" lang="zh-CN" altLang="en-US" dirty="0"/>
              <a:t>手工编程、传统编程、人工编程、古法编程（</a:t>
            </a:r>
            <a:r>
              <a:rPr lang="zh-CN" altLang="en-US" dirty="0"/>
              <a:t>人写</a:t>
            </a:r>
            <a:r>
              <a:rPr lang="en-US" altLang="zh-CN" dirty="0"/>
              <a:t>+</a:t>
            </a:r>
            <a:r>
              <a:rPr lang="zh-CN" altLang="en-US" dirty="0"/>
              <a:t>严谨</a:t>
            </a:r>
            <a:r>
              <a:rPr kumimoji="1" lang="zh-CN" altLang="en-US" dirty="0"/>
              <a:t>）</a:t>
            </a:r>
            <a:endParaRPr kumimoji="1" lang="en-US" altLang="zh-CN" dirty="0"/>
          </a:p>
          <a:p>
            <a:r>
              <a:rPr kumimoji="1" lang="en-US" altLang="zh-CN" dirty="0"/>
              <a:t> Vibe</a:t>
            </a:r>
            <a:r>
              <a:rPr kumimoji="1" lang="zh-CN" altLang="en-US" dirty="0"/>
              <a:t> </a:t>
            </a:r>
            <a:r>
              <a:rPr kumimoji="1" lang="en-US" altLang="zh-CN" dirty="0"/>
              <a:t>Coding</a:t>
            </a:r>
            <a:r>
              <a:rPr kumimoji="1" lang="zh-CN" altLang="en-US" dirty="0"/>
              <a:t> 凭感觉编程、</a:t>
            </a:r>
            <a:r>
              <a:rPr lang="zh-CN" altLang="en-US" dirty="0"/>
              <a:t>写意编程、氛围编程、沉浸式编程、</a:t>
            </a:r>
            <a:r>
              <a:rPr kumimoji="1" lang="zh-CN" altLang="en-US" dirty="0"/>
              <a:t>（</a:t>
            </a:r>
            <a:r>
              <a:rPr lang="zh-CN" altLang="en-US" dirty="0"/>
              <a:t>智能体写</a:t>
            </a:r>
            <a:r>
              <a:rPr lang="en-US" altLang="zh-CN" dirty="0"/>
              <a:t>+</a:t>
            </a:r>
            <a:r>
              <a:rPr lang="zh-CN" altLang="en-US" dirty="0"/>
              <a:t>低监督</a:t>
            </a:r>
            <a:r>
              <a:rPr kumimoji="1" lang="zh-CN" altLang="en-US" dirty="0"/>
              <a:t>）</a:t>
            </a:r>
            <a:endParaRPr kumimoji="1" lang="en-US" altLang="zh-CN" dirty="0"/>
          </a:p>
          <a:p>
            <a:r>
              <a:rPr kumimoji="1" lang="en-US" altLang="zh-CN" dirty="0"/>
              <a:t>Agentic</a:t>
            </a:r>
            <a:r>
              <a:rPr kumimoji="1" lang="zh-CN" altLang="en-US" dirty="0"/>
              <a:t> </a:t>
            </a:r>
            <a:r>
              <a:rPr kumimoji="1" lang="en-US" altLang="zh-CN" dirty="0"/>
              <a:t>Engineering</a:t>
            </a:r>
            <a:r>
              <a:rPr kumimoji="1" lang="zh-CN" altLang="en-US" dirty="0"/>
              <a:t> 智能体工程（</a:t>
            </a:r>
            <a:r>
              <a:rPr lang="zh-CN" altLang="en-US" dirty="0"/>
              <a:t>智能体写</a:t>
            </a:r>
            <a:r>
              <a:rPr lang="en-US" altLang="zh-CN" dirty="0"/>
              <a:t>+</a:t>
            </a:r>
            <a:r>
              <a:rPr lang="zh-CN" altLang="en-US" dirty="0"/>
              <a:t>高监督</a:t>
            </a:r>
            <a:r>
              <a:rPr kumimoji="1" lang="zh-CN" altLang="en-US" dirty="0"/>
              <a:t>）：</a:t>
            </a:r>
            <a:r>
              <a:rPr lang="en-US" altLang="zh-CN" dirty="0"/>
              <a:t> </a:t>
            </a:r>
          </a:p>
        </p:txBody>
      </p:sp>
      <p:sp>
        <p:nvSpPr>
          <p:cNvPr id="5" name="PartQuestion">
            <a:extLst>
              <a:ext uri="{FF2B5EF4-FFF2-40B4-BE49-F238E27FC236}">
                <a16:creationId xmlns:a16="http://schemas.microsoft.com/office/drawing/2014/main" id="{4D8BBA59-6EF2-D345-8225-2F7A05962035}"/>
              </a:ext>
            </a:extLst>
          </p:cNvPr>
          <p:cNvSpPr txBox="1"/>
          <p:nvPr/>
        </p:nvSpPr>
        <p:spPr>
          <a:xfrm>
            <a:off x="1054100" y="914400"/>
            <a:ext cx="9906000" cy="330200"/>
          </a:xfrm>
          <a:prstGeom prst="rect">
            <a:avLst/>
          </a:prstGeom>
          <a:noFill/>
        </p:spPr>
        <p:txBody>
          <a:bodyPr vertOverflow="overflow" vert="horz" wrap="square" rtlCol="0" anchor="t" anchorCtr="0">
            <a:noAutofit/>
          </a:bodyPr>
          <a:lstStyle/>
          <a:p>
            <a:pPr algn="l"/>
            <a:r>
              <a:rPr lang="zh-CN" altLang="en-US" sz="1500" i="1">
                <a:solidFill>
                  <a:srgbClr val="6A005F"/>
                </a:solidFill>
              </a:rPr>
              <a:t>今天写代码，到底有哪几种方式？</a:t>
            </a:r>
          </a:p>
        </p:txBody>
      </p:sp>
    </p:spTree>
    <p:extLst>
      <p:ext uri="{BB962C8B-B14F-4D97-AF65-F5344CB8AC3E}">
        <p14:creationId xmlns:p14="http://schemas.microsoft.com/office/powerpoint/2010/main" val="55253018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3</a:t>
            </a:fld>
            <a:endParaRPr lang="zh-CN" altLang="en-US"/>
          </a:p>
        </p:txBody>
      </p:sp>
      <p:sp>
        <p:nvSpPr>
          <p:cNvPr id="3" name="文本占位符 2"/>
          <p:cNvSpPr>
            <a:spLocks noGrp="1"/>
          </p:cNvSpPr>
          <p:nvPr>
            <p:ph type="body" sz="quarter" idx="13"/>
          </p:nvPr>
        </p:nvSpPr>
        <p:spPr/>
        <p:txBody>
          <a:bodyPr/>
          <a:lstStyle/>
          <a:p>
            <a:r>
              <a:rPr kumimoji="1" lang="en-US" altLang="zh-CN" dirty="0"/>
              <a:t>Agentic Engineering </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77500" lnSpcReduction="20000"/>
          </a:bodyPr>
          <a:lstStyle/>
          <a:p>
            <a:r>
              <a:rPr lang="en-US" altLang="zh-CN" dirty="0"/>
              <a:t>Many people have tried to come up with a better name for this to differentiate it from vibe coding, personally my current favorite “agentic engineering”:</a:t>
            </a:r>
            <a:r>
              <a:rPr lang="zh-CN" altLang="en-US" dirty="0"/>
              <a:t>很多人试图为这种现象（</a:t>
            </a:r>
            <a:r>
              <a:rPr lang="en-US" altLang="zh-CN" dirty="0"/>
              <a:t>"</a:t>
            </a:r>
            <a:r>
              <a:rPr lang="zh-CN" altLang="en-US" dirty="0"/>
              <a:t>用 </a:t>
            </a:r>
            <a:r>
              <a:rPr lang="en-US" altLang="zh-CN" dirty="0"/>
              <a:t>LLM </a:t>
            </a:r>
            <a:r>
              <a:rPr lang="zh-CN" altLang="en-US" dirty="0"/>
              <a:t>智能体写代码</a:t>
            </a:r>
            <a:r>
              <a:rPr lang="en-US" altLang="zh-CN" dirty="0"/>
              <a:t>"</a:t>
            </a:r>
            <a:r>
              <a:rPr lang="zh-CN" altLang="en-US" dirty="0"/>
              <a:t>）取一个更好的名字，以区别于“氛围编程”，我个人目前最喜欢的是“智能体工程”： </a:t>
            </a:r>
            <a:endParaRPr lang="en-US" altLang="zh-CN" dirty="0"/>
          </a:p>
          <a:p>
            <a:pPr lvl="1"/>
            <a:r>
              <a:rPr lang="en-US" altLang="zh-CN" dirty="0"/>
              <a:t>"agentic" because the new default is that you are not writing the code directly 99% of the time, you are orchestrating agents who do and acting as oversight. - “</a:t>
            </a:r>
            <a:r>
              <a:rPr lang="zh-CN" altLang="en-US" dirty="0"/>
              <a:t>智能体”是因为现在 </a:t>
            </a:r>
            <a:r>
              <a:rPr lang="en-US" altLang="zh-CN" dirty="0"/>
              <a:t>99%</a:t>
            </a:r>
            <a:r>
              <a:rPr lang="zh-CN" altLang="en-US" dirty="0"/>
              <a:t>的时间里，你不再直接编写代码，而是在编排智能体并对其进行监督。</a:t>
            </a:r>
            <a:endParaRPr lang="en-US" altLang="zh-CN" dirty="0"/>
          </a:p>
          <a:p>
            <a:pPr lvl="1"/>
            <a:r>
              <a:rPr lang="en-US" altLang="zh-CN" dirty="0"/>
              <a:t>"engineering" to emphasize that there is an art &amp; science and expertise to it. It's something you can learn and become better at, with its own depth of a different kind.”</a:t>
            </a:r>
            <a:r>
              <a:rPr lang="zh-CN" altLang="en-US" dirty="0"/>
              <a:t> </a:t>
            </a:r>
            <a:r>
              <a:rPr lang="en-US" altLang="zh-CN" dirty="0"/>
              <a:t>- “</a:t>
            </a:r>
            <a:r>
              <a:rPr lang="zh-CN" altLang="en-US" dirty="0"/>
              <a:t>工程”是为了强调这其中有艺术、科学和专业性。这是一门可以学习并不断提升的技能，有着自己独特的深度。</a:t>
            </a:r>
            <a:endParaRPr kumimoji="1" lang="en-US" altLang="zh-CN" dirty="0"/>
          </a:p>
          <a:p>
            <a:r>
              <a:rPr lang="en-US" altLang="zh-CN" b="1" dirty="0">
                <a:hlinkClick r:id="rId3"/>
              </a:rPr>
              <a:t>Andrej Karpathy</a:t>
            </a:r>
            <a:r>
              <a:rPr lang="zh-CN" altLang="en-US" b="1" dirty="0">
                <a:hlinkClick r:id="rId3"/>
              </a:rPr>
              <a:t> </a:t>
            </a:r>
            <a:r>
              <a:rPr lang="en-US" altLang="zh-CN" b="1" dirty="0">
                <a:hlinkClick r:id="rId3"/>
              </a:rPr>
              <a:t>2026.02</a:t>
            </a:r>
          </a:p>
          <a:p>
            <a:r>
              <a:rPr lang="en-US" altLang="zh-CN" dirty="0">
                <a:hlinkClick r:id="rId3"/>
              </a:rPr>
              <a:t>Co-Founder, OpenAI</a:t>
            </a:r>
          </a:p>
          <a:p>
            <a:endParaRPr kumimoji="1" lang="zh-CN" altLang="en-US" dirty="0"/>
          </a:p>
        </p:txBody>
      </p:sp>
    </p:spTree>
    <p:extLst>
      <p:ext uri="{BB962C8B-B14F-4D97-AF65-F5344CB8AC3E}">
        <p14:creationId xmlns:p14="http://schemas.microsoft.com/office/powerpoint/2010/main" val="201245281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4</a:t>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en-US" altLang="zh-CN" dirty="0"/>
              <a:t>2025-11 </a:t>
            </a:r>
            <a:r>
              <a:rPr lang="zh-CN" altLang="en-US" dirty="0"/>
              <a:t>能力拐点</a:t>
            </a:r>
          </a:p>
        </p:txBody>
      </p:sp>
      <p:pic>
        <p:nvPicPr>
          <p:cNvPr id="5" name="内容占位符 4">
            <a:extLst>
              <a:ext uri="{FF2B5EF4-FFF2-40B4-BE49-F238E27FC236}">
                <a16:creationId xmlns:a16="http://schemas.microsoft.com/office/drawing/2014/main" id="{050B735B-4467-3F48-F275-A0474476A3B4}"/>
              </a:ext>
            </a:extLst>
          </p:cNvPr>
          <p:cNvPicPr>
            <a:picLocks noGrp="1" noChangeAspect="1"/>
          </p:cNvPicPr>
          <p:nvPr>
            <p:ph idx="1"/>
          </p:nvPr>
        </p:nvPicPr>
        <p:blipFill>
          <a:blip r:embed="rId3"/>
          <a:stretch>
            <a:fillRect/>
          </a:stretch>
        </p:blipFill>
        <p:spPr>
          <a:xfrm>
            <a:off x="2012950" y="1684547"/>
            <a:ext cx="8166100" cy="1803400"/>
          </a:xfrm>
          <a:prstGeom prst="rect">
            <a:avLst/>
          </a:prstGeom>
        </p:spPr>
      </p:pic>
      <p:sp>
        <p:nvSpPr>
          <p:cNvPr id="6" name="文本框 5">
            <a:extLst>
              <a:ext uri="{FF2B5EF4-FFF2-40B4-BE49-F238E27FC236}">
                <a16:creationId xmlns:a16="http://schemas.microsoft.com/office/drawing/2014/main" id="{1F1753BD-F831-D775-38D4-7D666A3C21BF}"/>
              </a:ext>
            </a:extLst>
          </p:cNvPr>
          <p:cNvSpPr txBox="1"/>
          <p:nvPr/>
        </p:nvSpPr>
        <p:spPr>
          <a:xfrm>
            <a:off x="1973215" y="4289783"/>
            <a:ext cx="8439554" cy="523220"/>
          </a:xfrm>
          <a:prstGeom prst="rect">
            <a:avLst/>
          </a:prstGeom>
          <a:noFill/>
        </p:spPr>
        <p:txBody>
          <a:bodyPr wrap="none" rtlCol="0">
            <a:spAutoFit/>
          </a:bodyPr>
          <a:lstStyle/>
          <a:p>
            <a:r>
              <a:rPr lang="zh-CN" altLang="en-US" sz="2800" dirty="0"/>
              <a:t>若模型能力不达标， 则 </a:t>
            </a:r>
            <a:r>
              <a:rPr lang="en-US" altLang="zh-CN" sz="2800" dirty="0"/>
              <a:t>Agentic Engineering </a:t>
            </a:r>
            <a:r>
              <a:rPr lang="zh-CN" altLang="en-US" sz="2800" dirty="0"/>
              <a:t>不成立。</a:t>
            </a:r>
            <a:endParaRPr kumimoji="1" lang="zh-CN" altLang="en-US" sz="2800" dirty="0"/>
          </a:p>
        </p:txBody>
      </p:sp>
      <p:sp>
        <p:nvSpPr>
          <p:cNvPr id="4" name="PartQuestion">
            <a:extLst>
              <a:ext uri="{FF2B5EF4-FFF2-40B4-BE49-F238E27FC236}">
                <a16:creationId xmlns:a16="http://schemas.microsoft.com/office/drawing/2014/main" id="{1C10E459-472C-DC41-9102-2BCCDDCCE91D}"/>
              </a:ext>
            </a:extLst>
          </p:cNvPr>
          <p:cNvSpPr txBox="1"/>
          <p:nvPr/>
        </p:nvSpPr>
        <p:spPr>
          <a:xfrm>
            <a:off x="1054100" y="939800"/>
            <a:ext cx="9906000" cy="330200"/>
          </a:xfrm>
          <a:prstGeom prst="rect">
            <a:avLst/>
          </a:prstGeom>
          <a:noFill/>
        </p:spPr>
        <p:txBody>
          <a:bodyPr vertOverflow="overflow" vert="horz" wrap="square" rtlCol="0" anchor="t" anchorCtr="0">
            <a:noAutofit/>
          </a:bodyPr>
          <a:lstStyle/>
          <a:p>
            <a:pPr algn="l"/>
            <a:r>
              <a:rPr lang="zh-CN" altLang="en-US" sz="1500" i="1">
                <a:solidFill>
                  <a:srgbClr val="6A005F"/>
                </a:solidFill>
              </a:rPr>
              <a:t>为什么「智能体工程」现在才成立？</a:t>
            </a:r>
          </a:p>
        </p:txBody>
      </p:sp>
    </p:spTree>
    <p:extLst>
      <p:ext uri="{BB962C8B-B14F-4D97-AF65-F5344CB8AC3E}">
        <p14:creationId xmlns:p14="http://schemas.microsoft.com/office/powerpoint/2010/main" val="347534608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5</a:t>
            </a:fld>
            <a:endParaRPr lang="zh-CN" altLang="en-US"/>
          </a:p>
        </p:txBody>
      </p:sp>
      <p:sp>
        <p:nvSpPr>
          <p:cNvPr id="3" name="文本占位符 2"/>
          <p:cNvSpPr>
            <a:spLocks noGrp="1"/>
          </p:cNvSpPr>
          <p:nvPr>
            <p:ph type="body" sz="quarter" idx="13"/>
          </p:nvPr>
        </p:nvSpPr>
        <p:spPr/>
        <p:txBody>
          <a:bodyPr/>
          <a:lstStyle/>
          <a:p>
            <a:r>
              <a:rPr kumimoji="1" lang="zh-CN" altLang="en-US" dirty="0"/>
              <a:t>可信性</a:t>
            </a:r>
          </a:p>
        </p:txBody>
      </p:sp>
      <p:pic>
        <p:nvPicPr>
          <p:cNvPr id="5" name="内容占位符 4">
            <a:extLst>
              <a:ext uri="{FF2B5EF4-FFF2-40B4-BE49-F238E27FC236}">
                <a16:creationId xmlns:a16="http://schemas.microsoft.com/office/drawing/2014/main" id="{F6E3F9CC-718F-6E15-39BC-12B0800FA901}"/>
              </a:ext>
            </a:extLst>
          </p:cNvPr>
          <p:cNvPicPr>
            <a:picLocks noGrp="1" noChangeAspect="1"/>
          </p:cNvPicPr>
          <p:nvPr>
            <p:ph idx="1"/>
          </p:nvPr>
        </p:nvPicPr>
        <p:blipFill>
          <a:blip r:embed="rId3"/>
          <a:stretch>
            <a:fillRect/>
          </a:stretch>
        </p:blipFill>
        <p:spPr>
          <a:xfrm>
            <a:off x="838200" y="1550471"/>
            <a:ext cx="10515600" cy="2675878"/>
          </a:xfrm>
          <a:prstGeom prst="rect">
            <a:avLst/>
          </a:prstGeom>
        </p:spPr>
      </p:pic>
      <p:sp>
        <p:nvSpPr>
          <p:cNvPr id="6" name="文本框 5">
            <a:extLst>
              <a:ext uri="{FF2B5EF4-FFF2-40B4-BE49-F238E27FC236}">
                <a16:creationId xmlns:a16="http://schemas.microsoft.com/office/drawing/2014/main" id="{D0B5F04A-FCFD-BCB3-4F74-FB72FB19C93A}"/>
              </a:ext>
            </a:extLst>
          </p:cNvPr>
          <p:cNvSpPr txBox="1"/>
          <p:nvPr/>
        </p:nvSpPr>
        <p:spPr>
          <a:xfrm>
            <a:off x="1327717" y="5186759"/>
            <a:ext cx="9730549" cy="954107"/>
          </a:xfrm>
          <a:prstGeom prst="rect">
            <a:avLst/>
          </a:prstGeom>
          <a:noFill/>
        </p:spPr>
        <p:txBody>
          <a:bodyPr wrap="none" rtlCol="0">
            <a:spAutoFit/>
          </a:bodyPr>
          <a:lstStyle/>
          <a:p>
            <a:r>
              <a:rPr lang="en-US" altLang="zh-CN" sz="2800" dirty="0"/>
              <a:t>“</a:t>
            </a:r>
            <a:r>
              <a:rPr lang="zh-CN" altLang="en-US" sz="2800" dirty="0"/>
              <a:t>能跑≠可信</a:t>
            </a:r>
            <a:r>
              <a:rPr lang="en-US" altLang="zh-CN" sz="2800" dirty="0"/>
              <a:t>”</a:t>
            </a:r>
            <a:r>
              <a:rPr lang="zh-CN" altLang="en-US" sz="2800" dirty="0"/>
              <a:t>：软件可信性问的不是</a:t>
            </a:r>
            <a:r>
              <a:rPr lang="en-US" altLang="zh-CN" sz="2800" dirty="0"/>
              <a:t>"</a:t>
            </a:r>
            <a:r>
              <a:rPr lang="zh-CN" altLang="en-US" sz="2800" dirty="0"/>
              <a:t>代码现在跑没跑通</a:t>
            </a:r>
            <a:r>
              <a:rPr lang="en-US" altLang="zh-CN" sz="2800" dirty="0"/>
              <a:t>",</a:t>
            </a:r>
            <a:r>
              <a:rPr lang="zh-CN" altLang="en-US" sz="2800" dirty="0"/>
              <a:t>而是</a:t>
            </a:r>
            <a:endParaRPr lang="en-US" altLang="zh-CN" sz="2800" dirty="0"/>
          </a:p>
          <a:p>
            <a:r>
              <a:rPr lang="zh-CN" altLang="en-US" sz="2800" b="1" dirty="0"/>
              <a:t>你有没有充分理由相信</a:t>
            </a:r>
            <a:r>
              <a:rPr lang="en-US" altLang="zh-CN" sz="2800" b="1" dirty="0"/>
              <a:t>:</a:t>
            </a:r>
            <a:r>
              <a:rPr lang="zh-CN" altLang="en-US" sz="2800" b="1" dirty="0"/>
              <a:t>换个时间、换种情况</a:t>
            </a:r>
            <a:r>
              <a:rPr lang="en-US" altLang="zh-CN" sz="2800" b="1" dirty="0"/>
              <a:t>,</a:t>
            </a:r>
            <a:r>
              <a:rPr lang="zh-CN" altLang="en-US" sz="2800" b="1" dirty="0"/>
              <a:t>它照样不出错</a:t>
            </a:r>
            <a:r>
              <a:rPr lang="zh-CN" altLang="en-US" sz="2800" dirty="0"/>
              <a:t>。</a:t>
            </a:r>
            <a:endParaRPr kumimoji="1" lang="zh-CN" altLang="en-US" sz="2800" dirty="0"/>
          </a:p>
        </p:txBody>
      </p:sp>
      <p:sp>
        <p:nvSpPr>
          <p:cNvPr id="4" name="PartQuestion">
            <a:extLst>
              <a:ext uri="{FF2B5EF4-FFF2-40B4-BE49-F238E27FC236}">
                <a16:creationId xmlns:a16="http://schemas.microsoft.com/office/drawing/2014/main" id="{D680EB91-4A46-524E-AEFE-9C94AF2B5A04}"/>
              </a:ext>
            </a:extLst>
          </p:cNvPr>
          <p:cNvSpPr txBox="1"/>
          <p:nvPr/>
        </p:nvSpPr>
        <p:spPr>
          <a:xfrm>
            <a:off x="1054100" y="939800"/>
            <a:ext cx="9906000" cy="330200"/>
          </a:xfrm>
          <a:prstGeom prst="rect">
            <a:avLst/>
          </a:prstGeom>
          <a:noFill/>
        </p:spPr>
        <p:txBody>
          <a:bodyPr vertOverflow="overflow" vert="horz" wrap="square" rtlCol="0" anchor="t" anchorCtr="0">
            <a:noAutofit/>
          </a:bodyPr>
          <a:lstStyle/>
          <a:p>
            <a:pPr algn="l"/>
            <a:r>
              <a:rPr lang="zh-CN" altLang="en-US" sz="1500" i="1">
                <a:solidFill>
                  <a:srgbClr val="6A005F"/>
                </a:solidFill>
              </a:rPr>
              <a:t>代码「能跑」，为什么不等于「能用」？</a:t>
            </a:r>
          </a:p>
        </p:txBody>
      </p:sp>
    </p:spTree>
    <p:extLst>
      <p:ext uri="{BB962C8B-B14F-4D97-AF65-F5344CB8AC3E}">
        <p14:creationId xmlns:p14="http://schemas.microsoft.com/office/powerpoint/2010/main" val="59241302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7A0DAD-0E7A-F2DF-FE24-DFE2F07F515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9338ABD-C843-F590-0CCE-87BA584551F3}"/>
              </a:ext>
            </a:extLst>
          </p:cNvPr>
          <p:cNvSpPr>
            <a:spLocks noGrp="1"/>
          </p:cNvSpPr>
          <p:nvPr>
            <p:ph type="sldNum" sz="quarter" idx="12"/>
          </p:nvPr>
        </p:nvSpPr>
        <p:spPr/>
        <p:txBody>
          <a:bodyPr/>
          <a:lstStyle/>
          <a:p>
            <a:fld id="{51D91E7F-84B6-4064-9D4E-CC7D244BCA04}" type="slidenum">
              <a:rPr lang="zh-CN" altLang="en-US" smtClean="0"/>
              <a:t>6</a:t>
            </a:fld>
            <a:endParaRPr lang="zh-CN" altLang="en-US"/>
          </a:p>
        </p:txBody>
      </p:sp>
      <p:sp>
        <p:nvSpPr>
          <p:cNvPr id="301" name="g301"/>
          <p:cNvSpPr/>
          <p:nvPr/>
        </p:nvSpPr>
        <p:spPr>
          <a:xfrm>
            <a:off x="889000" y="3175000"/>
            <a:ext cx="3238500" cy="2984500"/>
          </a:xfrm>
          <a:prstGeom prst="rect">
            <a:avLst/>
          </a:prstGeom>
          <a:solidFill>
            <a:srgbClr val="EEEAEC"/>
          </a:solidFill>
          <a:ln>
            <a:noFill/>
          </a:ln>
        </p:spPr>
        <p:txBody>
          <a:bodyPr/>
          <a:lstStyle/>
          <a:p>
            <a:endParaRPr lang="en-US"/>
          </a:p>
        </p:txBody>
      </p:sp>
      <p:sp>
        <p:nvSpPr>
          <p:cNvPr id="302" name="g302"/>
          <p:cNvSpPr/>
          <p:nvPr/>
        </p:nvSpPr>
        <p:spPr>
          <a:xfrm>
            <a:off x="1524000" y="3175000"/>
            <a:ext cx="1968500" cy="2667000"/>
          </a:xfrm>
          <a:custGeom>
            <a:avLst/>
            <a:gdLst/>
            <a:ahLst/>
            <a:cxnLst/>
            <a:rect l="0" t="0" r="0" b="0"/>
            <a:pathLst>
              <a:path w="15500" h="21000">
                <a:moveTo>
                  <a:pt x="2200" y="0"/>
                </a:moveTo>
                <a:lnTo>
                  <a:pt x="13300" y="0"/>
                </a:lnTo>
                <a:lnTo>
                  <a:pt x="15500" y="6500"/>
                </a:lnTo>
                <a:lnTo>
                  <a:pt x="7750" y="21000"/>
                </a:lnTo>
                <a:lnTo>
                  <a:pt x="0" y="6500"/>
                </a:lnTo>
                <a:close/>
              </a:path>
            </a:pathLst>
          </a:custGeom>
          <a:solidFill>
            <a:srgbClr val="3D0036"/>
          </a:solidFill>
          <a:ln>
            <a:noFill/>
          </a:ln>
        </p:spPr>
        <p:txBody>
          <a:bodyPr/>
          <a:lstStyle/>
          <a:p>
            <a:endParaRPr lang="en-US"/>
          </a:p>
        </p:txBody>
      </p:sp>
      <p:sp>
        <p:nvSpPr>
          <p:cNvPr id="303" name="g303"/>
          <p:cNvSpPr/>
          <p:nvPr/>
        </p:nvSpPr>
        <p:spPr>
          <a:xfrm>
            <a:off x="889000" y="3175000"/>
            <a:ext cx="3238500" cy="0"/>
          </a:xfrm>
          <a:prstGeom prst="line">
            <a:avLst/>
          </a:prstGeom>
          <a:noFill/>
          <a:ln w="12700">
            <a:solidFill>
              <a:srgbClr val="C2A8BD"/>
            </a:solidFill>
            <a:prstDash val="dash"/>
          </a:ln>
        </p:spPr>
        <p:txBody>
          <a:bodyPr/>
          <a:lstStyle/>
          <a:p>
            <a:endParaRPr lang="en-US"/>
          </a:p>
        </p:txBody>
      </p:sp>
      <p:sp>
        <p:nvSpPr>
          <p:cNvPr id="304" name="g304"/>
          <p:cNvSpPr/>
          <p:nvPr/>
        </p:nvSpPr>
        <p:spPr>
          <a:xfrm>
            <a:off x="2032000" y="2387600"/>
            <a:ext cx="939800" cy="787400"/>
          </a:xfrm>
          <a:prstGeom prst="triangle">
            <a:avLst/>
          </a:prstGeom>
          <a:solidFill>
            <a:srgbClr val="A23C97"/>
          </a:solidFill>
          <a:ln>
            <a:noFill/>
          </a:ln>
        </p:spPr>
        <p:txBody>
          <a:bodyPr/>
          <a:lstStyle/>
          <a:p>
            <a:endParaRPr lang="en-US"/>
          </a:p>
        </p:txBody>
      </p:sp>
      <p:sp>
        <p:nvSpPr>
          <p:cNvPr id="305" name="tx305"/>
          <p:cNvSpPr txBox="1"/>
          <p:nvPr/>
        </p:nvSpPr>
        <p:spPr>
          <a:xfrm>
            <a:off x="1524000" y="2057400"/>
            <a:ext cx="1968500" cy="279400"/>
          </a:xfrm>
          <a:prstGeom prst="rect">
            <a:avLst/>
          </a:prstGeom>
          <a:noFill/>
        </p:spPr>
        <p:txBody>
          <a:bodyPr wrap="square" lIns="0" tIns="0" rIns="0" bIns="0" anchor="b">
            <a:noAutofit/>
          </a:bodyPr>
          <a:lstStyle/>
          <a:p>
            <a:pPr algn="ctr">
              <a:buNone/>
            </a:pPr>
            <a:r>
              <a:rPr lang="en-US" sz="1300" b="1" dirty="0">
                <a:solidFill>
                  <a:srgbClr val="6A005F"/>
                </a:solidFill>
              </a:rPr>
              <a:t>领域专家 ✓</a:t>
            </a:r>
          </a:p>
        </p:txBody>
      </p:sp>
      <p:sp>
        <p:nvSpPr>
          <p:cNvPr id="306" name="tx306"/>
          <p:cNvSpPr txBox="1"/>
          <p:nvPr/>
        </p:nvSpPr>
        <p:spPr>
          <a:xfrm>
            <a:off x="2946400" y="2971800"/>
            <a:ext cx="1168400" cy="228600"/>
          </a:xfrm>
          <a:prstGeom prst="rect">
            <a:avLst/>
          </a:prstGeom>
          <a:noFill/>
        </p:spPr>
        <p:txBody>
          <a:bodyPr wrap="square" lIns="0" tIns="0" rIns="0" bIns="0" anchor="t">
            <a:noAutofit/>
          </a:bodyPr>
          <a:lstStyle/>
          <a:p>
            <a:pPr algn="l">
              <a:buNone/>
            </a:pPr>
            <a:r>
              <a:rPr lang="en-US" sz="1200" dirty="0">
                <a:solidFill>
                  <a:srgbClr val="9A9A9A"/>
                </a:solidFill>
              </a:rPr>
              <a:t>差不多能用</a:t>
            </a:r>
          </a:p>
        </p:txBody>
      </p:sp>
      <p:sp>
        <p:nvSpPr>
          <p:cNvPr id="307" name="tx307"/>
          <p:cNvSpPr txBox="1"/>
          <p:nvPr/>
        </p:nvSpPr>
        <p:spPr>
          <a:xfrm>
            <a:off x="2946400" y="3302000"/>
            <a:ext cx="1168400" cy="228600"/>
          </a:xfrm>
          <a:prstGeom prst="rect">
            <a:avLst/>
          </a:prstGeom>
          <a:noFill/>
        </p:spPr>
        <p:txBody>
          <a:bodyPr wrap="square" lIns="0" tIns="0" rIns="0" bIns="0" anchor="t">
            <a:noAutofit/>
          </a:bodyPr>
          <a:lstStyle/>
          <a:p>
            <a:pPr algn="l">
              <a:buNone/>
            </a:pPr>
            <a:r>
              <a:rPr lang="en-US" sz="1200" dirty="0">
                <a:solidFill>
                  <a:srgbClr val="9A9A9A"/>
                </a:solidFill>
              </a:rPr>
              <a:t>始终可靠</a:t>
            </a:r>
          </a:p>
        </p:txBody>
      </p:sp>
      <p:sp>
        <p:nvSpPr>
          <p:cNvPr id="308" name="tx308"/>
          <p:cNvSpPr txBox="1"/>
          <p:nvPr/>
        </p:nvSpPr>
        <p:spPr>
          <a:xfrm>
            <a:off x="1524000" y="3911600"/>
            <a:ext cx="1968500" cy="1016000"/>
          </a:xfrm>
          <a:prstGeom prst="rect">
            <a:avLst/>
          </a:prstGeom>
          <a:noFill/>
        </p:spPr>
        <p:txBody>
          <a:bodyPr wrap="square" lIns="0" tIns="0" rIns="0" bIns="0" anchor="ctr">
            <a:noAutofit/>
          </a:bodyPr>
          <a:lstStyle/>
          <a:p>
            <a:pPr algn="ctr">
              <a:spcAft>
                <a:spcPts val="300"/>
              </a:spcAft>
              <a:buNone/>
            </a:pPr>
            <a:r>
              <a:rPr lang="en-US" sz="1800" b="1" dirty="0">
                <a:solidFill>
                  <a:srgbClr val="FFFFFF"/>
                </a:solidFill>
              </a:rPr>
              <a:t>软件工程师</a:t>
            </a:r>
          </a:p>
          <a:p>
            <a:pPr algn="ctr">
              <a:buNone/>
            </a:pPr>
            <a:r>
              <a:rPr lang="en-US" sz="1200" dirty="0">
                <a:solidFill>
                  <a:srgbClr val="FFFFFF"/>
                </a:solidFill>
              </a:rPr>
              <a:t>构建的工程冰山</a:t>
            </a:r>
          </a:p>
        </p:txBody>
      </p:sp>
      <p:sp>
        <p:nvSpPr>
          <p:cNvPr id="310" name="tx310"/>
          <p:cNvSpPr txBox="1"/>
          <p:nvPr/>
        </p:nvSpPr>
        <p:spPr>
          <a:xfrm>
            <a:off x="889000" y="533400"/>
            <a:ext cx="8382000" cy="812800"/>
          </a:xfrm>
          <a:prstGeom prst="rect">
            <a:avLst/>
          </a:prstGeom>
          <a:noFill/>
        </p:spPr>
        <p:txBody>
          <a:bodyPr wrap="square" lIns="0" tIns="0" rIns="0" bIns="0" anchor="t">
            <a:noAutofit/>
          </a:bodyPr>
          <a:lstStyle/>
          <a:p>
            <a:pPr algn="l">
              <a:buNone/>
            </a:pPr>
            <a:r>
              <a:rPr lang="en-US" sz="3800" b="1" dirty="0">
                <a:solidFill>
                  <a:srgbClr val="6A005F"/>
                </a:solidFill>
              </a:rPr>
              <a:t>原型，不等于系统</a:t>
            </a:r>
          </a:p>
        </p:txBody>
      </p:sp>
      <p:sp>
        <p:nvSpPr>
          <p:cNvPr id="313" name="g313"/>
          <p:cNvSpPr/>
          <p:nvPr/>
        </p:nvSpPr>
        <p:spPr>
          <a:xfrm>
            <a:off x="914400" y="1676400"/>
            <a:ext cx="10744200" cy="0"/>
          </a:xfrm>
          <a:prstGeom prst="line">
            <a:avLst/>
          </a:prstGeom>
          <a:noFill/>
          <a:ln w="12700">
            <a:solidFill>
              <a:srgbClr val="DAD2D6"/>
            </a:solidFill>
          </a:ln>
        </p:spPr>
        <p:txBody>
          <a:bodyPr/>
          <a:lstStyle/>
          <a:p>
            <a:endParaRPr lang="en-US"/>
          </a:p>
        </p:txBody>
      </p:sp>
      <p:sp>
        <p:nvSpPr>
          <p:cNvPr id="314" name="tx314"/>
          <p:cNvSpPr txBox="1"/>
          <p:nvPr/>
        </p:nvSpPr>
        <p:spPr>
          <a:xfrm>
            <a:off x="5549900" y="1904999"/>
            <a:ext cx="6134100" cy="1216529"/>
          </a:xfrm>
          <a:prstGeom prst="rect">
            <a:avLst/>
          </a:prstGeom>
          <a:noFill/>
        </p:spPr>
        <p:txBody>
          <a:bodyPr wrap="square" lIns="0" tIns="0" rIns="0" bIns="0" anchor="t">
            <a:noAutofit/>
          </a:bodyPr>
          <a:lstStyle/>
          <a:p>
            <a:pPr algn="l">
              <a:lnSpc>
                <a:spcPct val="135000"/>
              </a:lnSpc>
              <a:buNone/>
            </a:pPr>
            <a:r>
              <a:rPr lang="en-US" sz="2000" dirty="0">
                <a:solidFill>
                  <a:srgbClr val="3A3A42"/>
                </a:solidFill>
              </a:rPr>
              <a:t>例子：王主任（25 </a:t>
            </a:r>
            <a:r>
              <a:rPr lang="en-US" sz="2000" dirty="0" err="1">
                <a:solidFill>
                  <a:srgbClr val="3A3A42"/>
                </a:solidFill>
              </a:rPr>
              <a:t>年急诊经验）用</a:t>
            </a:r>
            <a:r>
              <a:rPr lang="en-US" sz="2000" dirty="0">
                <a:solidFill>
                  <a:srgbClr val="3A3A42"/>
                </a:solidFill>
              </a:rPr>
              <a:t> Claude</a:t>
            </a:r>
            <a:r>
              <a:rPr lang="zh-CN" altLang="en-US" sz="2000" dirty="0">
                <a:solidFill>
                  <a:srgbClr val="3A3A42"/>
                </a:solidFill>
              </a:rPr>
              <a:t> </a:t>
            </a:r>
            <a:r>
              <a:rPr lang="en-US" altLang="zh-CN" sz="2000" dirty="0">
                <a:solidFill>
                  <a:srgbClr val="3A3A42"/>
                </a:solidFill>
              </a:rPr>
              <a:t>Code</a:t>
            </a:r>
            <a:r>
              <a:rPr lang="en-US" sz="2000" dirty="0">
                <a:solidFill>
                  <a:srgbClr val="3A3A42"/>
                </a:solidFill>
              </a:rPr>
              <a:t> 搭出了 89% 准确率的分诊原型——“差不多能用了”。但距真正用在急诊室，还差一整座冰山：</a:t>
            </a:r>
          </a:p>
        </p:txBody>
      </p:sp>
      <p:sp>
        <p:nvSpPr>
          <p:cNvPr id="316" name="tx316"/>
          <p:cNvSpPr txBox="1"/>
          <p:nvPr/>
        </p:nvSpPr>
        <p:spPr>
          <a:xfrm>
            <a:off x="5549900" y="3352800"/>
            <a:ext cx="3187700" cy="1905000"/>
          </a:xfrm>
          <a:prstGeom prst="rect">
            <a:avLst/>
          </a:prstGeom>
          <a:noFill/>
        </p:spPr>
        <p:txBody>
          <a:bodyPr wrap="square" lIns="0" tIns="0" rIns="0" bIns="0" anchor="t">
            <a:noAutofit/>
          </a:bodyPr>
          <a:lstStyle/>
          <a:p>
            <a:pPr algn="l">
              <a:spcAft>
                <a:spcPts val="1200"/>
              </a:spcAft>
              <a:buNone/>
            </a:pPr>
            <a:r>
              <a:rPr lang="en-US" sz="2000" b="1" dirty="0">
                <a:solidFill>
                  <a:srgbClr val="6A005F"/>
                </a:solidFill>
              </a:rPr>
              <a:t>容错降级</a:t>
            </a:r>
            <a:r>
              <a:rPr lang="en-US" dirty="0">
                <a:solidFill>
                  <a:srgbClr val="8E8E8E"/>
                </a:solidFill>
              </a:rPr>
              <a:t> · 系统崩了怎么办</a:t>
            </a:r>
          </a:p>
          <a:p>
            <a:pPr algn="l">
              <a:spcAft>
                <a:spcPts val="1200"/>
              </a:spcAft>
              <a:buNone/>
            </a:pPr>
            <a:r>
              <a:rPr lang="en-US" sz="2000" b="1" dirty="0">
                <a:solidFill>
                  <a:srgbClr val="6A005F"/>
                </a:solidFill>
              </a:rPr>
              <a:t>并发实时</a:t>
            </a:r>
            <a:r>
              <a:rPr lang="en-US" dirty="0">
                <a:solidFill>
                  <a:srgbClr val="8E8E8E"/>
                </a:solidFill>
              </a:rPr>
              <a:t> · </a:t>
            </a:r>
            <a:r>
              <a:rPr lang="en-US" dirty="0" err="1">
                <a:solidFill>
                  <a:srgbClr val="8E8E8E"/>
                </a:solidFill>
              </a:rPr>
              <a:t>百人同时用</a:t>
            </a:r>
            <a:endParaRPr lang="en-US" dirty="0">
              <a:solidFill>
                <a:srgbClr val="8E8E8E"/>
              </a:solidFill>
            </a:endParaRPr>
          </a:p>
          <a:p>
            <a:pPr algn="l">
              <a:spcAft>
                <a:spcPts val="1200"/>
              </a:spcAft>
              <a:buNone/>
            </a:pPr>
            <a:r>
              <a:rPr lang="en-US" sz="2000" b="1" dirty="0">
                <a:solidFill>
                  <a:srgbClr val="6A005F"/>
                </a:solidFill>
              </a:rPr>
              <a:t>数据安全</a:t>
            </a:r>
            <a:r>
              <a:rPr lang="en-US" dirty="0">
                <a:solidFill>
                  <a:srgbClr val="8E8E8E"/>
                </a:solidFill>
              </a:rPr>
              <a:t> · 隐私谁来守</a:t>
            </a:r>
          </a:p>
        </p:txBody>
      </p:sp>
      <p:sp>
        <p:nvSpPr>
          <p:cNvPr id="317" name="tx317"/>
          <p:cNvSpPr txBox="1"/>
          <p:nvPr/>
        </p:nvSpPr>
        <p:spPr>
          <a:xfrm>
            <a:off x="8496300" y="3352800"/>
            <a:ext cx="3187700" cy="1905000"/>
          </a:xfrm>
          <a:prstGeom prst="rect">
            <a:avLst/>
          </a:prstGeom>
          <a:noFill/>
        </p:spPr>
        <p:txBody>
          <a:bodyPr wrap="square" lIns="0" tIns="0" rIns="0" bIns="0" anchor="t">
            <a:noAutofit/>
          </a:bodyPr>
          <a:lstStyle/>
          <a:p>
            <a:pPr algn="l">
              <a:spcAft>
                <a:spcPts val="1200"/>
              </a:spcAft>
              <a:buNone/>
            </a:pPr>
            <a:r>
              <a:rPr lang="en-US" sz="2000" b="1" dirty="0">
                <a:solidFill>
                  <a:srgbClr val="6A005F"/>
                </a:solidFill>
              </a:rPr>
              <a:t>审计合规</a:t>
            </a:r>
            <a:r>
              <a:rPr lang="en-US" dirty="0">
                <a:solidFill>
                  <a:srgbClr val="8E8E8E"/>
                </a:solidFill>
              </a:rPr>
              <a:t> · 纠纷谁说得清</a:t>
            </a:r>
          </a:p>
          <a:p>
            <a:pPr algn="l">
              <a:spcAft>
                <a:spcPts val="1200"/>
              </a:spcAft>
              <a:buNone/>
            </a:pPr>
            <a:r>
              <a:rPr lang="en-US" sz="2000" b="1" dirty="0">
                <a:solidFill>
                  <a:srgbClr val="6A005F"/>
                </a:solidFill>
              </a:rPr>
              <a:t>模型监控</a:t>
            </a:r>
            <a:r>
              <a:rPr lang="en-US" dirty="0">
                <a:solidFill>
                  <a:srgbClr val="8E8E8E"/>
                </a:solidFill>
              </a:rPr>
              <a:t> · AI 变笨谁知道</a:t>
            </a:r>
          </a:p>
          <a:p>
            <a:pPr algn="l">
              <a:spcAft>
                <a:spcPts val="1200"/>
              </a:spcAft>
              <a:buNone/>
            </a:pPr>
            <a:r>
              <a:rPr lang="en-US" sz="2000" b="1" dirty="0">
                <a:solidFill>
                  <a:srgbClr val="6A005F"/>
                </a:solidFill>
              </a:rPr>
              <a:t>系统集成</a:t>
            </a:r>
            <a:r>
              <a:rPr lang="en-US" dirty="0">
                <a:solidFill>
                  <a:srgbClr val="8E8E8E"/>
                </a:solidFill>
              </a:rPr>
              <a:t> · 新设备接得上</a:t>
            </a:r>
          </a:p>
        </p:txBody>
      </p:sp>
      <p:sp>
        <p:nvSpPr>
          <p:cNvPr id="318" name="tx318"/>
          <p:cNvSpPr txBox="1"/>
          <p:nvPr/>
        </p:nvSpPr>
        <p:spPr>
          <a:xfrm>
            <a:off x="5549900" y="4961517"/>
            <a:ext cx="5740400" cy="1206500"/>
          </a:xfrm>
          <a:prstGeom prst="rect">
            <a:avLst/>
          </a:prstGeom>
          <a:noFill/>
        </p:spPr>
        <p:txBody>
          <a:bodyPr wrap="square" lIns="0" tIns="0" rIns="0" bIns="0" anchor="t">
            <a:noAutofit/>
          </a:bodyPr>
          <a:lstStyle/>
          <a:p>
            <a:pPr algn="l">
              <a:lnSpc>
                <a:spcPct val="130000"/>
              </a:lnSpc>
              <a:buNone/>
            </a:pPr>
            <a:r>
              <a:rPr lang="en-US" sz="2000" b="1" dirty="0">
                <a:solidFill>
                  <a:srgbClr val="1C1E2A"/>
                </a:solidFill>
              </a:rPr>
              <a:t>医生能定义分诊逻辑，但让系统 7×24 可靠运行的工程，超出其专业。AI 赋能的软件工程师，价值就在构建这座水下冰山。</a:t>
            </a:r>
          </a:p>
        </p:txBody>
      </p:sp>
    </p:spTree>
    <p:extLst>
      <p:ext uri="{BB962C8B-B14F-4D97-AF65-F5344CB8AC3E}">
        <p14:creationId xmlns:p14="http://schemas.microsoft.com/office/powerpoint/2010/main" val="21608657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7</a:t>
            </a:fld>
            <a:endParaRPr lang="zh-CN" altLang="en-US"/>
          </a:p>
        </p:txBody>
      </p:sp>
      <p:sp>
        <p:nvSpPr>
          <p:cNvPr id="3" name="文本占位符 2"/>
          <p:cNvSpPr>
            <a:spLocks noGrp="1"/>
          </p:cNvSpPr>
          <p:nvPr>
            <p:ph type="body" sz="quarter" idx="13"/>
          </p:nvPr>
        </p:nvSpPr>
        <p:spPr/>
        <p:txBody>
          <a:bodyPr/>
          <a:lstStyle/>
          <a:p>
            <a:r>
              <a:rPr kumimoji="1" lang="zh-CN" altLang="en-US" dirty="0"/>
              <a:t>编程的产物不是程序，而是</a:t>
            </a:r>
            <a:r>
              <a:rPr kumimoji="1" lang="en-US" altLang="zh-CN" dirty="0"/>
              <a:t>"</a:t>
            </a:r>
            <a:r>
              <a:rPr kumimoji="1" lang="zh-CN" altLang="en-US" dirty="0"/>
              <a:t>理论</a:t>
            </a:r>
            <a:r>
              <a:rPr kumimoji="1" lang="en-US" altLang="zh-CN" dirty="0"/>
              <a:t>"</a:t>
            </a:r>
            <a:endParaRPr kumimoji="1" lang="zh-CN" altLang="en-US" dirty="0"/>
          </a:p>
        </p:txBody>
      </p:sp>
      <p:sp>
        <p:nvSpPr>
          <p:cNvPr id="5" name="圆角矩形 4">
            <a:extLst>
              <a:ext uri="{FF2B5EF4-FFF2-40B4-BE49-F238E27FC236}">
                <a16:creationId xmlns:a16="http://schemas.microsoft.com/office/drawing/2014/main" id="{78CCC4C7-17C1-074E-9ECD-E7284E2EA8C1}"/>
              </a:ext>
            </a:extLst>
          </p:cNvPr>
          <p:cNvSpPr/>
          <p:nvPr/>
        </p:nvSpPr>
        <p:spPr>
          <a:xfrm>
            <a:off x="838200" y="1168400"/>
            <a:ext cx="10515600" cy="1320800"/>
          </a:xfrm>
          <a:prstGeom prst="roundRect">
            <a:avLst/>
          </a:prstGeom>
          <a:solidFill>
            <a:srgbClr val="F5EC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6" name="矩形 5">
            <a:extLst>
              <a:ext uri="{FF2B5EF4-FFF2-40B4-BE49-F238E27FC236}">
                <a16:creationId xmlns:a16="http://schemas.microsoft.com/office/drawing/2014/main" id="{964ED344-F9F0-7D4A-BC0B-DBC46A581802}"/>
              </a:ext>
            </a:extLst>
          </p:cNvPr>
          <p:cNvSpPr/>
          <p:nvPr/>
        </p:nvSpPr>
        <p:spPr>
          <a:xfrm>
            <a:off x="838200" y="1168400"/>
            <a:ext cx="88900" cy="1320800"/>
          </a:xfrm>
          <a:prstGeom prst="rect">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7" name="文本框 6">
            <a:extLst>
              <a:ext uri="{FF2B5EF4-FFF2-40B4-BE49-F238E27FC236}">
                <a16:creationId xmlns:a16="http://schemas.microsoft.com/office/drawing/2014/main" id="{278AB258-C23D-6D4E-9172-6953D966A1D6}"/>
              </a:ext>
            </a:extLst>
          </p:cNvPr>
          <p:cNvSpPr txBox="1"/>
          <p:nvPr/>
        </p:nvSpPr>
        <p:spPr>
          <a:xfrm>
            <a:off x="1219200" y="1320800"/>
            <a:ext cx="9804400" cy="685800"/>
          </a:xfrm>
          <a:prstGeom prst="rect">
            <a:avLst/>
          </a:prstGeom>
          <a:noFill/>
        </p:spPr>
        <p:txBody>
          <a:bodyPr vertOverflow="overflow" vert="horz" wrap="square" rtlCol="0" anchor="t">
            <a:spAutoFit/>
          </a:bodyPr>
          <a:lstStyle/>
          <a:p>
            <a:pPr algn="l"/>
            <a:r>
              <a:rPr lang="zh-CN" altLang="en-US" b="1" i="1" dirty="0">
                <a:solidFill>
                  <a:srgbClr val="6A005F"/>
                </a:solidFill>
              </a:rPr>
              <a:t>编程的根本目的不是产出程序，而是让程序员在头脑中建立「问题如何被程序求解」的理论。</a:t>
            </a:r>
          </a:p>
        </p:txBody>
      </p:sp>
      <p:sp>
        <p:nvSpPr>
          <p:cNvPr id="8" name="文本框 7">
            <a:extLst>
              <a:ext uri="{FF2B5EF4-FFF2-40B4-BE49-F238E27FC236}">
                <a16:creationId xmlns:a16="http://schemas.microsoft.com/office/drawing/2014/main" id="{A61DEC89-ADF4-BD40-88E7-466CE93D4F4C}"/>
              </a:ext>
            </a:extLst>
          </p:cNvPr>
          <p:cNvSpPr txBox="1"/>
          <p:nvPr/>
        </p:nvSpPr>
        <p:spPr>
          <a:xfrm>
            <a:off x="1219200" y="2032000"/>
            <a:ext cx="9804400" cy="330200"/>
          </a:xfrm>
          <a:prstGeom prst="rect">
            <a:avLst/>
          </a:prstGeom>
          <a:noFill/>
        </p:spPr>
        <p:txBody>
          <a:bodyPr vertOverflow="overflow" vert="horz" wrap="square" rtlCol="0" anchor="t">
            <a:spAutoFit/>
          </a:bodyPr>
          <a:lstStyle/>
          <a:p>
            <a:pPr algn="l"/>
            <a:r>
              <a:rPr lang="en-US" altLang="zh-CN" sz="1300" dirty="0">
                <a:solidFill>
                  <a:srgbClr val="595959"/>
                </a:solidFill>
              </a:rPr>
              <a:t>Naur 1985 · Programming as Theory Building</a:t>
            </a:r>
            <a:r>
              <a:rPr lang="zh-CN" altLang="en-US" sz="1300" dirty="0">
                <a:solidFill>
                  <a:srgbClr val="595959"/>
                </a:solidFill>
              </a:rPr>
              <a:t>　</a:t>
            </a:r>
            <a:r>
              <a:rPr lang="en-US" altLang="zh-CN" sz="1300" dirty="0">
                <a:solidFill>
                  <a:srgbClr val="595959"/>
                </a:solidFill>
              </a:rPr>
              <a:t>|</a:t>
            </a:r>
            <a:r>
              <a:rPr lang="zh-CN" altLang="en-US" sz="1300" dirty="0">
                <a:solidFill>
                  <a:srgbClr val="595959"/>
                </a:solidFill>
              </a:rPr>
              <a:t>　理论是一种能力、而非命题集合（</a:t>
            </a:r>
            <a:r>
              <a:rPr lang="en-US" altLang="zh-CN" sz="1300" dirty="0">
                <a:solidFill>
                  <a:srgbClr val="595959"/>
                </a:solidFill>
              </a:rPr>
              <a:t>Ryle</a:t>
            </a:r>
            <a:r>
              <a:rPr lang="zh-CN" altLang="en-US" sz="1300" dirty="0">
                <a:solidFill>
                  <a:srgbClr val="595959"/>
                </a:solidFill>
              </a:rPr>
              <a:t>）</a:t>
            </a:r>
            <a:r>
              <a:rPr lang="en-US" altLang="zh-CN" sz="1300" dirty="0">
                <a:solidFill>
                  <a:srgbClr val="595959"/>
                </a:solidFill>
              </a:rPr>
              <a:t>——</a:t>
            </a:r>
            <a:r>
              <a:rPr lang="zh-CN" altLang="en-US" sz="1300" dirty="0">
                <a:solidFill>
                  <a:srgbClr val="595959"/>
                </a:solidFill>
              </a:rPr>
              <a:t>持有理论的人能回答关于程序的「任何」问题。</a:t>
            </a:r>
          </a:p>
        </p:txBody>
      </p:sp>
      <p:sp>
        <p:nvSpPr>
          <p:cNvPr id="9" name="文本框 8">
            <a:extLst>
              <a:ext uri="{FF2B5EF4-FFF2-40B4-BE49-F238E27FC236}">
                <a16:creationId xmlns:a16="http://schemas.microsoft.com/office/drawing/2014/main" id="{2D396FB6-0DBF-AB4F-90F0-CD32B4E3C1A3}"/>
              </a:ext>
            </a:extLst>
          </p:cNvPr>
          <p:cNvSpPr txBox="1"/>
          <p:nvPr/>
        </p:nvSpPr>
        <p:spPr>
          <a:xfrm>
            <a:off x="838200" y="2641600"/>
            <a:ext cx="10515600" cy="304800"/>
          </a:xfrm>
          <a:prstGeom prst="rect">
            <a:avLst/>
          </a:prstGeom>
          <a:noFill/>
        </p:spPr>
        <p:txBody>
          <a:bodyPr vertOverflow="overflow" vert="horz" wrap="square" rtlCol="0" anchor="t">
            <a:spAutoFit/>
          </a:bodyPr>
          <a:lstStyle/>
          <a:p>
            <a:pPr algn="l"/>
            <a:r>
              <a:rPr lang="zh-CN" altLang="en-US" sz="1700" b="1" dirty="0">
                <a:solidFill>
                  <a:srgbClr val="6A005F"/>
                </a:solidFill>
              </a:rPr>
              <a:t>核心命题：源代码只是这套理论「写下来的有损投影」</a:t>
            </a:r>
          </a:p>
        </p:txBody>
      </p:sp>
      <p:sp>
        <p:nvSpPr>
          <p:cNvPr id="10" name="圆角矩形 9">
            <a:extLst>
              <a:ext uri="{FF2B5EF4-FFF2-40B4-BE49-F238E27FC236}">
                <a16:creationId xmlns:a16="http://schemas.microsoft.com/office/drawing/2014/main" id="{C08D823B-215F-B04A-BAAA-9EDFE4FE607B}"/>
              </a:ext>
            </a:extLst>
          </p:cNvPr>
          <p:cNvSpPr/>
          <p:nvPr/>
        </p:nvSpPr>
        <p:spPr>
          <a:xfrm>
            <a:off x="838200" y="3048000"/>
            <a:ext cx="5156200" cy="1092200"/>
          </a:xfrm>
          <a:prstGeom prst="roundRect">
            <a:avLst/>
          </a:prstGeom>
          <a:solidFill>
            <a:srgbClr val="EAF4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1" name="矩形 10">
            <a:extLst>
              <a:ext uri="{FF2B5EF4-FFF2-40B4-BE49-F238E27FC236}">
                <a16:creationId xmlns:a16="http://schemas.microsoft.com/office/drawing/2014/main" id="{23E93A8D-A1C4-5A4C-9D9E-E49CA8A78D70}"/>
              </a:ext>
            </a:extLst>
          </p:cNvPr>
          <p:cNvSpPr/>
          <p:nvPr/>
        </p:nvSpPr>
        <p:spPr>
          <a:xfrm>
            <a:off x="1066800" y="3251200"/>
            <a:ext cx="177800" cy="177800"/>
          </a:xfrm>
          <a:prstGeom prst="rect">
            <a:avLst/>
          </a:prstGeom>
          <a:solidFill>
            <a:srgbClr val="2E7D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2" name="文本框 11">
            <a:extLst>
              <a:ext uri="{FF2B5EF4-FFF2-40B4-BE49-F238E27FC236}">
                <a16:creationId xmlns:a16="http://schemas.microsoft.com/office/drawing/2014/main" id="{897D2CEB-C62F-374E-B2A1-7B8450EE7060}"/>
              </a:ext>
            </a:extLst>
          </p:cNvPr>
          <p:cNvSpPr txBox="1"/>
          <p:nvPr/>
        </p:nvSpPr>
        <p:spPr>
          <a:xfrm>
            <a:off x="1371600" y="3213100"/>
            <a:ext cx="4318000" cy="279400"/>
          </a:xfrm>
          <a:prstGeom prst="rect">
            <a:avLst/>
          </a:prstGeom>
          <a:noFill/>
        </p:spPr>
        <p:txBody>
          <a:bodyPr vertOverflow="overflow" vert="horz" wrap="none" rtlCol="0" anchor="t">
            <a:spAutoFit/>
          </a:bodyPr>
          <a:lstStyle/>
          <a:p>
            <a:pPr algn="l"/>
            <a:r>
              <a:rPr lang="zh-CN" altLang="en-US" sz="1500" b="1">
                <a:solidFill>
                  <a:srgbClr val="2E7D32"/>
                </a:solidFill>
              </a:rPr>
              <a:t>代码说得清</a:t>
            </a:r>
          </a:p>
        </p:txBody>
      </p:sp>
      <p:sp>
        <p:nvSpPr>
          <p:cNvPr id="13" name="文本框 12">
            <a:extLst>
              <a:ext uri="{FF2B5EF4-FFF2-40B4-BE49-F238E27FC236}">
                <a16:creationId xmlns:a16="http://schemas.microsoft.com/office/drawing/2014/main" id="{552EA8B7-058F-644D-92F9-7186ADB753B4}"/>
              </a:ext>
            </a:extLst>
          </p:cNvPr>
          <p:cNvSpPr txBox="1"/>
          <p:nvPr/>
        </p:nvSpPr>
        <p:spPr>
          <a:xfrm>
            <a:off x="1066800" y="3606800"/>
            <a:ext cx="4699000" cy="381000"/>
          </a:xfrm>
          <a:prstGeom prst="rect">
            <a:avLst/>
          </a:prstGeom>
          <a:noFill/>
        </p:spPr>
        <p:txBody>
          <a:bodyPr vertOverflow="overflow" vert="horz" wrap="square" rtlCol="0" anchor="t">
            <a:spAutoFit/>
          </a:bodyPr>
          <a:lstStyle/>
          <a:p>
            <a:pPr algn="l"/>
            <a:r>
              <a:rPr lang="zh-CN" altLang="en-US" sz="1400">
                <a:solidFill>
                  <a:srgbClr val="3A3A3A"/>
                </a:solidFill>
              </a:rPr>
              <a:t>「这段代码做了什么」</a:t>
            </a:r>
          </a:p>
        </p:txBody>
      </p:sp>
      <p:sp>
        <p:nvSpPr>
          <p:cNvPr id="14" name="圆角矩形 13">
            <a:extLst>
              <a:ext uri="{FF2B5EF4-FFF2-40B4-BE49-F238E27FC236}">
                <a16:creationId xmlns:a16="http://schemas.microsoft.com/office/drawing/2014/main" id="{2846DEE8-5D56-2244-9A8A-2B5A37603DC0}"/>
              </a:ext>
            </a:extLst>
          </p:cNvPr>
          <p:cNvSpPr/>
          <p:nvPr/>
        </p:nvSpPr>
        <p:spPr>
          <a:xfrm>
            <a:off x="6197600" y="3048000"/>
            <a:ext cx="5156200" cy="1092200"/>
          </a:xfrm>
          <a:prstGeom prst="roundRect">
            <a:avLst/>
          </a:prstGeom>
          <a:solidFill>
            <a:srgbClr val="FBE9E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5" name="矩形 14">
            <a:extLst>
              <a:ext uri="{FF2B5EF4-FFF2-40B4-BE49-F238E27FC236}">
                <a16:creationId xmlns:a16="http://schemas.microsoft.com/office/drawing/2014/main" id="{AC1F8384-C0F0-4842-9B4C-A3D16764B533}"/>
              </a:ext>
            </a:extLst>
          </p:cNvPr>
          <p:cNvSpPr/>
          <p:nvPr/>
        </p:nvSpPr>
        <p:spPr>
          <a:xfrm>
            <a:off x="6426200" y="3251200"/>
            <a:ext cx="177800" cy="177800"/>
          </a:xfrm>
          <a:prstGeom prst="rect">
            <a:avLst/>
          </a:prstGeom>
          <a:solidFill>
            <a:srgbClr val="C0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6" name="文本框 15">
            <a:extLst>
              <a:ext uri="{FF2B5EF4-FFF2-40B4-BE49-F238E27FC236}">
                <a16:creationId xmlns:a16="http://schemas.microsoft.com/office/drawing/2014/main" id="{59042F3F-7041-464F-A5CE-34F05636B324}"/>
              </a:ext>
            </a:extLst>
          </p:cNvPr>
          <p:cNvSpPr txBox="1"/>
          <p:nvPr/>
        </p:nvSpPr>
        <p:spPr>
          <a:xfrm>
            <a:off x="6731000" y="3213100"/>
            <a:ext cx="4445000" cy="279400"/>
          </a:xfrm>
          <a:prstGeom prst="rect">
            <a:avLst/>
          </a:prstGeom>
          <a:noFill/>
        </p:spPr>
        <p:txBody>
          <a:bodyPr vertOverflow="overflow" vert="horz" wrap="none" rtlCol="0" anchor="t">
            <a:spAutoFit/>
          </a:bodyPr>
          <a:lstStyle/>
          <a:p>
            <a:pPr algn="l"/>
            <a:r>
              <a:rPr lang="zh-CN" altLang="en-US" sz="1500" b="1">
                <a:solidFill>
                  <a:srgbClr val="C00000"/>
                </a:solidFill>
              </a:rPr>
              <a:t>代码说不清</a:t>
            </a:r>
          </a:p>
        </p:txBody>
      </p:sp>
      <p:sp>
        <p:nvSpPr>
          <p:cNvPr id="17" name="文本框 16">
            <a:extLst>
              <a:ext uri="{FF2B5EF4-FFF2-40B4-BE49-F238E27FC236}">
                <a16:creationId xmlns:a16="http://schemas.microsoft.com/office/drawing/2014/main" id="{E1DE05D8-9341-4A45-895E-63DA6388E7C3}"/>
              </a:ext>
            </a:extLst>
          </p:cNvPr>
          <p:cNvSpPr txBox="1"/>
          <p:nvPr/>
        </p:nvSpPr>
        <p:spPr>
          <a:xfrm>
            <a:off x="6426200" y="3581400"/>
            <a:ext cx="4749800" cy="508000"/>
          </a:xfrm>
          <a:prstGeom prst="rect">
            <a:avLst/>
          </a:prstGeom>
          <a:noFill/>
        </p:spPr>
        <p:txBody>
          <a:bodyPr vertOverflow="overflow" vert="horz" wrap="square" rtlCol="0" anchor="t">
            <a:spAutoFit/>
          </a:bodyPr>
          <a:lstStyle/>
          <a:p>
            <a:pPr algn="l"/>
            <a:r>
              <a:rPr lang="zh-CN" altLang="en-US" sz="1400">
                <a:solidFill>
                  <a:srgbClr val="3A3A3A"/>
                </a:solidFill>
              </a:rPr>
              <a:t>「为什么这么写、当时考虑过哪些备选、哪些边界被有意排除」</a:t>
            </a:r>
          </a:p>
        </p:txBody>
      </p:sp>
      <p:sp>
        <p:nvSpPr>
          <p:cNvPr id="18" name="文本框 17">
            <a:extLst>
              <a:ext uri="{FF2B5EF4-FFF2-40B4-BE49-F238E27FC236}">
                <a16:creationId xmlns:a16="http://schemas.microsoft.com/office/drawing/2014/main" id="{CD1F9402-6980-BC49-BB6C-DB09BF697DAD}"/>
              </a:ext>
            </a:extLst>
          </p:cNvPr>
          <p:cNvSpPr txBox="1"/>
          <p:nvPr/>
        </p:nvSpPr>
        <p:spPr>
          <a:xfrm>
            <a:off x="838200" y="4368800"/>
            <a:ext cx="10515600" cy="304800"/>
          </a:xfrm>
          <a:prstGeom prst="rect">
            <a:avLst/>
          </a:prstGeom>
          <a:noFill/>
        </p:spPr>
        <p:txBody>
          <a:bodyPr vertOverflow="overflow" vert="horz" wrap="square" rtlCol="0" anchor="t">
            <a:spAutoFit/>
          </a:bodyPr>
          <a:lstStyle/>
          <a:p>
            <a:pPr algn="l"/>
            <a:r>
              <a:rPr lang="zh-CN" altLang="en-US" sz="1700" b="1" dirty="0">
                <a:solidFill>
                  <a:srgbClr val="6A005F"/>
                </a:solidFill>
              </a:rPr>
              <a:t>「有损」在哪：理论中关于「不存在之物」的知识，写下来的产物里没有位置</a:t>
            </a:r>
          </a:p>
        </p:txBody>
      </p:sp>
      <p:sp>
        <p:nvSpPr>
          <p:cNvPr id="19" name="圆角矩形 18">
            <a:extLst>
              <a:ext uri="{FF2B5EF4-FFF2-40B4-BE49-F238E27FC236}">
                <a16:creationId xmlns:a16="http://schemas.microsoft.com/office/drawing/2014/main" id="{0A06D579-8951-8747-816D-B05BF6D96C8F}"/>
              </a:ext>
            </a:extLst>
          </p:cNvPr>
          <p:cNvSpPr/>
          <p:nvPr/>
        </p:nvSpPr>
        <p:spPr>
          <a:xfrm>
            <a:off x="838200" y="4775200"/>
            <a:ext cx="3378200" cy="939800"/>
          </a:xfrm>
          <a:prstGeom prst="roundRect">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r>
              <a:rPr lang="zh-CN" altLang="en-US" sz="1600" b="1">
                <a:solidFill>
                  <a:srgbClr val="FFFFFF"/>
                </a:solidFill>
              </a:rPr>
              <a:t>被排除的方案</a:t>
            </a:r>
          </a:p>
        </p:txBody>
      </p:sp>
      <p:sp>
        <p:nvSpPr>
          <p:cNvPr id="20" name="圆角矩形 19">
            <a:extLst>
              <a:ext uri="{FF2B5EF4-FFF2-40B4-BE49-F238E27FC236}">
                <a16:creationId xmlns:a16="http://schemas.microsoft.com/office/drawing/2014/main" id="{9FF3AAAE-8F27-5E48-BA39-42B36DE61C5F}"/>
              </a:ext>
            </a:extLst>
          </p:cNvPr>
          <p:cNvSpPr/>
          <p:nvPr/>
        </p:nvSpPr>
        <p:spPr>
          <a:xfrm>
            <a:off x="4406900" y="4775200"/>
            <a:ext cx="3378200" cy="939800"/>
          </a:xfrm>
          <a:prstGeom prst="roundRect">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r>
              <a:rPr lang="zh-CN" altLang="en-US" sz="1600" b="1">
                <a:solidFill>
                  <a:srgbClr val="FFFFFF"/>
                </a:solidFill>
              </a:rPr>
              <a:t>被假定不会发生的输入</a:t>
            </a:r>
          </a:p>
        </p:txBody>
      </p:sp>
      <p:sp>
        <p:nvSpPr>
          <p:cNvPr id="21" name="圆角矩形 20">
            <a:extLst>
              <a:ext uri="{FF2B5EF4-FFF2-40B4-BE49-F238E27FC236}">
                <a16:creationId xmlns:a16="http://schemas.microsoft.com/office/drawing/2014/main" id="{128E9425-91E1-8549-BE2F-2DCE5B428203}"/>
              </a:ext>
            </a:extLst>
          </p:cNvPr>
          <p:cNvSpPr/>
          <p:nvPr/>
        </p:nvSpPr>
        <p:spPr>
          <a:xfrm>
            <a:off x="7975600" y="4775200"/>
            <a:ext cx="3378200" cy="939800"/>
          </a:xfrm>
          <a:prstGeom prst="roundRect">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r>
              <a:rPr lang="zh-CN" altLang="en-US" sz="1600" b="1">
                <a:solidFill>
                  <a:srgbClr val="FFFFFF"/>
                </a:solidFill>
              </a:rPr>
              <a:t>被刻意保持的不变量</a:t>
            </a:r>
          </a:p>
        </p:txBody>
      </p:sp>
      <p:sp>
        <p:nvSpPr>
          <p:cNvPr id="4" name="PartQuestion">
            <a:extLst>
              <a:ext uri="{FF2B5EF4-FFF2-40B4-BE49-F238E27FC236}">
                <a16:creationId xmlns:a16="http://schemas.microsoft.com/office/drawing/2014/main" id="{50A7F67F-7CED-4842-93B4-942520C165C8}"/>
              </a:ext>
            </a:extLst>
          </p:cNvPr>
          <p:cNvSpPr txBox="1"/>
          <p:nvPr/>
        </p:nvSpPr>
        <p:spPr>
          <a:xfrm>
            <a:off x="1054100" y="901700"/>
            <a:ext cx="9906000" cy="330200"/>
          </a:xfrm>
          <a:prstGeom prst="rect">
            <a:avLst/>
          </a:prstGeom>
          <a:noFill/>
        </p:spPr>
        <p:txBody>
          <a:bodyPr vertOverflow="overflow" vert="horz" wrap="square" rtlCol="0" anchor="t" anchorCtr="0">
            <a:noAutofit/>
          </a:bodyPr>
          <a:lstStyle/>
          <a:p>
            <a:pPr algn="l"/>
            <a:r>
              <a:rPr lang="zh-CN" altLang="en-US" sz="1500" i="1">
                <a:solidFill>
                  <a:srgbClr val="6A005F"/>
                </a:solidFill>
              </a:rPr>
              <a:t>可信，到底从哪里来？</a:t>
            </a:r>
          </a:p>
        </p:txBody>
      </p:sp>
    </p:spTree>
    <p:extLst>
      <p:ext uri="{BB962C8B-B14F-4D97-AF65-F5344CB8AC3E}">
        <p14:creationId xmlns:p14="http://schemas.microsoft.com/office/powerpoint/2010/main" val="52348519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8</a:t>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zh-CN" altLang="en-US" dirty="0"/>
              <a:t>如何检验一个人是否持有</a:t>
            </a:r>
            <a:r>
              <a:rPr lang="en-US" altLang="zh-CN" dirty="0"/>
              <a:t>"</a:t>
            </a:r>
            <a:r>
              <a:rPr lang="zh-CN" altLang="en-US" dirty="0"/>
              <a:t>理论</a:t>
            </a:r>
            <a:r>
              <a:rPr lang="en-US" altLang="zh-CN" dirty="0"/>
              <a:t>"</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en-US" altLang="zh-CN" dirty="0"/>
              <a:t>Naur </a:t>
            </a:r>
            <a:r>
              <a:rPr kumimoji="1" lang="zh-CN" altLang="en-US" dirty="0"/>
              <a:t>给出三条具体的判据；三条合起来指向同一个结论</a:t>
            </a:r>
            <a:r>
              <a:rPr kumimoji="1" lang="en-US" altLang="zh-CN" dirty="0"/>
              <a:t>——</a:t>
            </a:r>
            <a:r>
              <a:rPr kumimoji="1" lang="zh-CN" altLang="en-US" dirty="0"/>
              <a:t>代码、文档、测试加起来也无法完整承载理论。</a:t>
            </a:r>
            <a:endParaRPr kumimoji="1" lang="en-US" altLang="zh-CN" dirty="0"/>
          </a:p>
          <a:p>
            <a:r>
              <a:rPr lang="en-US" altLang="zh-CN" b="1" dirty="0"/>
              <a:t>1</a:t>
            </a:r>
            <a:r>
              <a:rPr lang="zh-CN" altLang="en-US" b="1" dirty="0"/>
              <a:t>、双向映射：</a:t>
            </a:r>
            <a:r>
              <a:rPr lang="zh-CN" altLang="en-US" dirty="0"/>
              <a:t>能把程序的每一个部分对应到所要解决的现实世界事务，</a:t>
            </a:r>
            <a:r>
              <a:rPr lang="zh-CN" altLang="en-US" dirty="0">
                <a:solidFill>
                  <a:srgbClr val="FF0000"/>
                </a:solidFill>
              </a:rPr>
              <a:t>在代码与问题域之间建立稳定的双向映射</a:t>
            </a:r>
            <a:r>
              <a:rPr lang="zh-CN" altLang="en-US" dirty="0"/>
              <a:t>，而不仅是知道某段代码的输入输出。</a:t>
            </a:r>
            <a:endParaRPr lang="en-US" altLang="zh-CN" dirty="0"/>
          </a:p>
          <a:p>
            <a:r>
              <a:rPr lang="en-US" altLang="zh-CN" b="1" dirty="0"/>
              <a:t>2</a:t>
            </a:r>
            <a:r>
              <a:rPr lang="zh-CN" altLang="en-US" b="1" dirty="0"/>
              <a:t>、设计辩护：</a:t>
            </a:r>
            <a:r>
              <a:rPr lang="zh-CN" altLang="en-US" dirty="0"/>
              <a:t>能为每一项设计选择给出辩护，尤其当被问</a:t>
            </a:r>
            <a:r>
              <a:rPr lang="en-US" altLang="zh-CN" dirty="0"/>
              <a:t>“</a:t>
            </a:r>
            <a:r>
              <a:rPr lang="zh-CN" altLang="en-US" dirty="0">
                <a:solidFill>
                  <a:srgbClr val="FF0000"/>
                </a:solidFill>
              </a:rPr>
              <a:t>为什么不那样写</a:t>
            </a:r>
            <a:r>
              <a:rPr lang="en-US" altLang="zh-CN" dirty="0"/>
              <a:t>”</a:t>
            </a:r>
            <a:r>
              <a:rPr lang="zh-CN" altLang="en-US" dirty="0"/>
              <a:t>，不仅知道当前的解，还知道当前解所处的可能性空间：哪些路径被探索过、为什么被排除。</a:t>
            </a:r>
            <a:endParaRPr lang="en-US" altLang="zh-CN" dirty="0"/>
          </a:p>
          <a:p>
            <a:r>
              <a:rPr kumimoji="1" lang="en-US" altLang="zh-CN" b="1" dirty="0"/>
              <a:t>3</a:t>
            </a:r>
            <a:r>
              <a:rPr kumimoji="1" lang="zh-CN" altLang="en-US" b="1" dirty="0"/>
              <a:t>、</a:t>
            </a:r>
            <a:r>
              <a:rPr lang="zh-CN" altLang="en-US" b="1" dirty="0"/>
              <a:t>有原则的扩展与修改：</a:t>
            </a:r>
            <a:r>
              <a:rPr lang="zh-CN" altLang="en-US" dirty="0">
                <a:solidFill>
                  <a:srgbClr val="FF0000"/>
                </a:solidFill>
              </a:rPr>
              <a:t>能对程序作有原则的扩展</a:t>
            </a:r>
            <a:r>
              <a:rPr lang="zh-CN" altLang="en-US" dirty="0"/>
              <a:t>，</a:t>
            </a:r>
            <a:r>
              <a:rPr lang="en-US" altLang="zh-CN" dirty="0"/>
              <a:t>"</a:t>
            </a:r>
            <a:r>
              <a:rPr lang="zh-CN" altLang="en-US" dirty="0"/>
              <a:t>有原则</a:t>
            </a:r>
            <a:r>
              <a:rPr lang="en-US" altLang="zh-CN" dirty="0"/>
              <a:t>"</a:t>
            </a:r>
            <a:r>
              <a:rPr lang="zh-CN" altLang="en-US" dirty="0"/>
              <a:t>指新代码与原有代码共享同一套不变量、同一套问题域抽象，而不是在缝里塞东西。</a:t>
            </a:r>
            <a:endParaRPr kumimoji="1" lang="zh-CN" altLang="en-US" dirty="0"/>
          </a:p>
        </p:txBody>
      </p:sp>
    </p:spTree>
    <p:extLst>
      <p:ext uri="{BB962C8B-B14F-4D97-AF65-F5344CB8AC3E}">
        <p14:creationId xmlns:p14="http://schemas.microsoft.com/office/powerpoint/2010/main" val="414336120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9</a:t>
            </a:fld>
            <a:endParaRPr lang="zh-CN" altLang="en-US"/>
          </a:p>
        </p:txBody>
      </p:sp>
      <p:sp>
        <p:nvSpPr>
          <p:cNvPr id="3" name="文本占位符 2"/>
          <p:cNvSpPr>
            <a:spLocks noGrp="1"/>
          </p:cNvSpPr>
          <p:nvPr>
            <p:ph type="body" sz="quarter" idx="13"/>
          </p:nvPr>
        </p:nvSpPr>
        <p:spPr/>
        <p:txBody>
          <a:bodyPr/>
          <a:lstStyle/>
          <a:p>
            <a:r>
              <a:rPr lang="en-US" altLang="zh-CN" dirty="0"/>
              <a:t>"</a:t>
            </a:r>
            <a:r>
              <a:rPr lang="zh-CN" altLang="en-US" dirty="0"/>
              <a:t>程序已死</a:t>
            </a:r>
            <a:r>
              <a:rPr lang="en-US" altLang="zh-CN" dirty="0"/>
              <a:t>"</a:t>
            </a:r>
            <a:r>
              <a:rPr lang="zh-CN" altLang="en-US" dirty="0"/>
              <a:t>（</a:t>
            </a:r>
            <a:r>
              <a:rPr lang="en-US" altLang="zh-CN" dirty="0"/>
              <a:t>the program is dead</a:t>
            </a:r>
            <a:r>
              <a:rPr lang="zh-CN" altLang="en-US" dirty="0"/>
              <a:t>）</a:t>
            </a:r>
            <a:endParaRPr kumimoji="1" lang="zh-CN" altLang="en-US" dirty="0"/>
          </a:p>
        </p:txBody>
      </p:sp>
      <p:sp>
        <p:nvSpPr>
          <p:cNvPr id="5" name="文本框 4">
            <a:extLst>
              <a:ext uri="{FF2B5EF4-FFF2-40B4-BE49-F238E27FC236}">
                <a16:creationId xmlns:a16="http://schemas.microsoft.com/office/drawing/2014/main" id="{6C1FBB34-E427-6C30-1548-778388BACE4E}"/>
              </a:ext>
            </a:extLst>
          </p:cNvPr>
          <p:cNvSpPr txBox="1"/>
          <p:nvPr/>
        </p:nvSpPr>
        <p:spPr>
          <a:xfrm>
            <a:off x="1380226" y="1401640"/>
            <a:ext cx="9005977" cy="2862322"/>
          </a:xfrm>
          <a:prstGeom prst="rect">
            <a:avLst/>
          </a:prstGeom>
          <a:noFill/>
        </p:spPr>
        <p:txBody>
          <a:bodyPr wrap="square">
            <a:spAutoFit/>
          </a:bodyPr>
          <a:lstStyle/>
          <a:p>
            <a:r>
              <a:rPr lang="zh-CN" altLang="en-US" sz="3600" b="1" dirty="0">
                <a:solidFill>
                  <a:srgbClr val="1F1B14"/>
                </a:solidFill>
                <a:effectLst/>
                <a:latin typeface="Source Han Serif SC SemiBold" panose="02020400000000000000" pitchFamily="18" charset="-128"/>
                <a:ea typeface="Source Han Serif SC SemiBold" panose="02020400000000000000" pitchFamily="18" charset="-128"/>
              </a:rPr>
              <a:t>失去理论的系统仍能运行，</a:t>
            </a:r>
            <a:r>
              <a:rPr lang="zh-CN" altLang="en-US" sz="3600" b="1" dirty="0">
                <a:solidFill>
                  <a:srgbClr val="FF0000"/>
                </a:solidFill>
                <a:effectLst/>
                <a:latin typeface="Source Han Serif SC SemiBold" panose="02020400000000000000" pitchFamily="18" charset="-128"/>
                <a:ea typeface="Source Han Serif SC SemiBold" panose="02020400000000000000" pitchFamily="18" charset="-128"/>
              </a:rPr>
              <a:t>却不能再被有意识地演化</a:t>
            </a:r>
            <a:r>
              <a:rPr lang="zh-CN" altLang="en-US" sz="3600" b="1" dirty="0">
                <a:solidFill>
                  <a:srgbClr val="1F1B14"/>
                </a:solidFill>
                <a:effectLst/>
                <a:latin typeface="Source Han Serif SC SemiBold" panose="02020400000000000000" pitchFamily="18" charset="-128"/>
                <a:ea typeface="Source Han Serif SC SemiBold" panose="02020400000000000000" pitchFamily="18" charset="-128"/>
              </a:rPr>
              <a:t>：</a:t>
            </a:r>
            <a:endParaRPr lang="en-US" altLang="zh-CN" sz="3600" b="1" dirty="0">
              <a:solidFill>
                <a:srgbClr val="1F1B14"/>
              </a:solidFill>
              <a:effectLst/>
              <a:latin typeface="Source Han Serif SC SemiBold" panose="02020400000000000000" pitchFamily="18" charset="-128"/>
              <a:ea typeface="Source Han Serif SC SemiBold" panose="02020400000000000000" pitchFamily="18" charset="-128"/>
            </a:endParaRPr>
          </a:p>
          <a:p>
            <a:r>
              <a:rPr lang="en-US" altLang="zh-CN" sz="3600" b="1" dirty="0">
                <a:solidFill>
                  <a:srgbClr val="1F1B14"/>
                </a:solidFill>
                <a:effectLst/>
                <a:latin typeface="Source Han Serif SC SemiBold" panose="02020400000000000000" pitchFamily="18" charset="-128"/>
                <a:ea typeface="Source Han Serif SC SemiBold" panose="02020400000000000000" pitchFamily="18" charset="-128"/>
              </a:rPr>
              <a:t>bug </a:t>
            </a:r>
            <a:r>
              <a:rPr lang="zh-CN" altLang="en-US" sz="3600" b="1" dirty="0">
                <a:solidFill>
                  <a:srgbClr val="1F1B14"/>
                </a:solidFill>
                <a:effectLst/>
                <a:latin typeface="Source Han Serif SC SemiBold" panose="02020400000000000000" pitchFamily="18" charset="-128"/>
                <a:ea typeface="Source Han Serif SC SemiBold" panose="02020400000000000000" pitchFamily="18" charset="-128"/>
              </a:rPr>
              <a:t>修复反复破坏看似无关的功能，</a:t>
            </a:r>
            <a:endParaRPr lang="en-US" altLang="zh-CN" sz="3600" b="1" dirty="0">
              <a:solidFill>
                <a:srgbClr val="1F1B14"/>
              </a:solidFill>
              <a:effectLst/>
              <a:latin typeface="Source Han Serif SC SemiBold" panose="02020400000000000000" pitchFamily="18" charset="-128"/>
              <a:ea typeface="Source Han Serif SC SemiBold" panose="02020400000000000000" pitchFamily="18" charset="-128"/>
            </a:endParaRPr>
          </a:p>
          <a:p>
            <a:r>
              <a:rPr lang="zh-CN" altLang="en-US" sz="3600" b="1" dirty="0">
                <a:solidFill>
                  <a:srgbClr val="1F1B14"/>
                </a:solidFill>
                <a:effectLst/>
                <a:latin typeface="Source Han Serif SC SemiBold" panose="02020400000000000000" pitchFamily="18" charset="-128"/>
                <a:ea typeface="Source Han Serif SC SemiBold" panose="02020400000000000000" pitchFamily="18" charset="-128"/>
              </a:rPr>
              <a:t>重构不断撞见</a:t>
            </a:r>
            <a:r>
              <a:rPr lang="en-US" altLang="zh-CN" sz="3600" b="1" dirty="0">
                <a:solidFill>
                  <a:srgbClr val="1F1B14"/>
                </a:solidFill>
                <a:effectLst/>
                <a:latin typeface="Source Han Serif SC SemiBold" panose="02020400000000000000" pitchFamily="18" charset="-128"/>
                <a:ea typeface="Source Han Serif SC SemiBold" panose="02020400000000000000" pitchFamily="18" charset="-128"/>
              </a:rPr>
              <a:t>"</a:t>
            </a:r>
            <a:r>
              <a:rPr lang="zh-CN" altLang="en-US" sz="3600" b="1" dirty="0">
                <a:solidFill>
                  <a:srgbClr val="FF0000"/>
                </a:solidFill>
                <a:effectLst/>
                <a:latin typeface="Source Han Serif SC SemiBold" panose="02020400000000000000" pitchFamily="18" charset="-128"/>
                <a:ea typeface="Source Han Serif SC SemiBold" panose="02020400000000000000" pitchFamily="18" charset="-128"/>
              </a:rPr>
              <a:t>这段为什么在？没人记得</a:t>
            </a:r>
            <a:r>
              <a:rPr lang="en-US" altLang="zh-CN" sz="3600" b="1" dirty="0">
                <a:solidFill>
                  <a:srgbClr val="1F1B14"/>
                </a:solidFill>
                <a:effectLst/>
                <a:latin typeface="Source Han Serif SC SemiBold" panose="02020400000000000000" pitchFamily="18" charset="-128"/>
                <a:ea typeface="Source Han Serif SC SemiBold" panose="02020400000000000000" pitchFamily="18" charset="-128"/>
              </a:rPr>
              <a:t>"</a:t>
            </a:r>
            <a:r>
              <a:rPr lang="zh-CN" altLang="en-US" sz="3600" b="1" dirty="0">
                <a:solidFill>
                  <a:srgbClr val="1F1B14"/>
                </a:solidFill>
                <a:effectLst/>
                <a:latin typeface="Source Han Serif SC SemiBold" panose="02020400000000000000" pitchFamily="18" charset="-128"/>
                <a:ea typeface="Source Han Serif SC SemiBold" panose="02020400000000000000" pitchFamily="18" charset="-128"/>
              </a:rPr>
              <a:t>的化石。</a:t>
            </a:r>
            <a:endParaRPr lang="zh-CN" altLang="en-US" sz="3600" b="1" dirty="0">
              <a:latin typeface="Source Han Serif SC SemiBold" panose="02020400000000000000" pitchFamily="18" charset="-128"/>
              <a:ea typeface="Source Han Serif SC SemiBold" panose="02020400000000000000" pitchFamily="18" charset="-128"/>
            </a:endParaRPr>
          </a:p>
        </p:txBody>
      </p:sp>
      <p:sp>
        <p:nvSpPr>
          <p:cNvPr id="6" name="文本框 5">
            <a:extLst>
              <a:ext uri="{FF2B5EF4-FFF2-40B4-BE49-F238E27FC236}">
                <a16:creationId xmlns:a16="http://schemas.microsoft.com/office/drawing/2014/main" id="{B1F038EB-45CE-966A-BF64-5E5A3FE720B9}"/>
              </a:ext>
            </a:extLst>
          </p:cNvPr>
          <p:cNvSpPr txBox="1"/>
          <p:nvPr/>
        </p:nvSpPr>
        <p:spPr>
          <a:xfrm>
            <a:off x="2156460" y="4782891"/>
            <a:ext cx="8002512" cy="461665"/>
          </a:xfrm>
          <a:prstGeom prst="rect">
            <a:avLst/>
          </a:prstGeom>
          <a:noFill/>
        </p:spPr>
        <p:txBody>
          <a:bodyPr wrap="none" rtlCol="0">
            <a:spAutoFit/>
          </a:bodyPr>
          <a:lstStyle/>
          <a:p>
            <a:r>
              <a:rPr kumimoji="1" lang="zh-CN" altLang="en-US" sz="2400" dirty="0"/>
              <a:t>传统软件开发，当所有原始团队人员离开后，程序死亡。</a:t>
            </a:r>
            <a:endParaRPr kumimoji="1" lang="en-US" altLang="zh-CN" sz="2400" dirty="0"/>
          </a:p>
        </p:txBody>
      </p:sp>
    </p:spTree>
    <p:extLst>
      <p:ext uri="{BB962C8B-B14F-4D97-AF65-F5344CB8AC3E}">
        <p14:creationId xmlns:p14="http://schemas.microsoft.com/office/powerpoint/2010/main" val="105642663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E8066-AB97-CEBE-4208-C1EE691C660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101A020-33D5-B2F0-B1AB-8D750B4D6A64}"/>
              </a:ext>
            </a:extLst>
          </p:cNvPr>
          <p:cNvSpPr>
            <a:spLocks noGrp="1"/>
          </p:cNvSpPr>
          <p:nvPr>
            <p:ph type="sldNum" sz="quarter" idx="12"/>
          </p:nvPr>
        </p:nvSpPr>
        <p:spPr/>
        <p:txBody>
          <a:bodyPr/>
          <a:lstStyle/>
          <a:p>
            <a:fld id="{51D91E7F-84B6-4064-9D4E-CC7D244BCA04}" type="slidenum">
              <a:rPr lang="zh-CN" altLang="en-US" smtClean="0"/>
              <a:t>10</a:t>
            </a:fld>
            <a:endParaRPr lang="zh-CN" altLang="en-US"/>
          </a:p>
        </p:txBody>
      </p:sp>
      <p:sp>
        <p:nvSpPr>
          <p:cNvPr id="3" name="文本占位符 2">
            <a:extLst>
              <a:ext uri="{FF2B5EF4-FFF2-40B4-BE49-F238E27FC236}">
                <a16:creationId xmlns:a16="http://schemas.microsoft.com/office/drawing/2014/main" id="{ED99C31C-CE71-378D-53F7-086A11ECC88A}"/>
              </a:ext>
            </a:extLst>
          </p:cNvPr>
          <p:cNvSpPr>
            <a:spLocks noGrp="1"/>
          </p:cNvSpPr>
          <p:nvPr>
            <p:ph type="body" sz="quarter" idx="13"/>
          </p:nvPr>
        </p:nvSpPr>
        <p:spPr>
          <a:xfrm>
            <a:off x="1032184" y="297936"/>
            <a:ext cx="10321616" cy="584775"/>
          </a:xfrm>
        </p:spPr>
        <p:txBody>
          <a:bodyPr/>
          <a:lstStyle/>
          <a:p>
            <a:r>
              <a:rPr kumimoji="1" lang="zh-CN" altLang="en-US" dirty="0"/>
              <a:t>程序死亡会有什么问题？</a:t>
            </a:r>
          </a:p>
        </p:txBody>
      </p:sp>
      <p:sp>
        <p:nvSpPr>
          <p:cNvPr id="6" name="文本框 5">
            <a:extLst>
              <a:ext uri="{FF2B5EF4-FFF2-40B4-BE49-F238E27FC236}">
                <a16:creationId xmlns:a16="http://schemas.microsoft.com/office/drawing/2014/main" id="{7E913346-B7FC-B846-A7B3-E3D6FCB88940}"/>
              </a:ext>
            </a:extLst>
          </p:cNvPr>
          <p:cNvSpPr txBox="1"/>
          <p:nvPr/>
        </p:nvSpPr>
        <p:spPr>
          <a:xfrm>
            <a:off x="838200" y="965200"/>
            <a:ext cx="10515600" cy="369332"/>
          </a:xfrm>
          <a:prstGeom prst="rect">
            <a:avLst/>
          </a:prstGeom>
          <a:noFill/>
        </p:spPr>
        <p:txBody>
          <a:bodyPr vertOverflow="overflow" vert="horz" wrap="square" rtlCol="0" anchor="t">
            <a:spAutoFit/>
          </a:bodyPr>
          <a:lstStyle/>
          <a:p>
            <a:pPr algn="l"/>
            <a:r>
              <a:rPr lang="zh-CN" altLang="en-US" b="1">
                <a:solidFill>
                  <a:srgbClr val="666666"/>
                </a:solidFill>
              </a:rPr>
              <a:t>程序仍然能运行，但：</a:t>
            </a:r>
          </a:p>
        </p:txBody>
      </p:sp>
      <p:sp>
        <p:nvSpPr>
          <p:cNvPr id="7" name="圆角矩形 6">
            <a:extLst>
              <a:ext uri="{FF2B5EF4-FFF2-40B4-BE49-F238E27FC236}">
                <a16:creationId xmlns:a16="http://schemas.microsoft.com/office/drawing/2014/main" id="{57C8AFBC-DD12-9547-923C-73C058752366}"/>
              </a:ext>
            </a:extLst>
          </p:cNvPr>
          <p:cNvSpPr/>
          <p:nvPr/>
        </p:nvSpPr>
        <p:spPr>
          <a:xfrm>
            <a:off x="838200" y="1397000"/>
            <a:ext cx="10515600" cy="1270000"/>
          </a:xfrm>
          <a:prstGeom prst="roundRect">
            <a:avLst/>
          </a:prstGeom>
          <a:solidFill>
            <a:srgbClr val="F5EC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8" name="椭圆 7">
            <a:extLst>
              <a:ext uri="{FF2B5EF4-FFF2-40B4-BE49-F238E27FC236}">
                <a16:creationId xmlns:a16="http://schemas.microsoft.com/office/drawing/2014/main" id="{5D52EE06-D51E-E042-AAD5-C3F7A83400E3}"/>
              </a:ext>
            </a:extLst>
          </p:cNvPr>
          <p:cNvSpPr/>
          <p:nvPr/>
        </p:nvSpPr>
        <p:spPr>
          <a:xfrm>
            <a:off x="1117600" y="1739900"/>
            <a:ext cx="584200" cy="584200"/>
          </a:xfrm>
          <a:prstGeom prst="ellipse">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9" name="文本框 8">
            <a:extLst>
              <a:ext uri="{FF2B5EF4-FFF2-40B4-BE49-F238E27FC236}">
                <a16:creationId xmlns:a16="http://schemas.microsoft.com/office/drawing/2014/main" id="{952AA437-7651-2C43-95A5-6D150FB734C5}"/>
              </a:ext>
            </a:extLst>
          </p:cNvPr>
          <p:cNvSpPr txBox="1"/>
          <p:nvPr/>
        </p:nvSpPr>
        <p:spPr>
          <a:xfrm>
            <a:off x="1955800" y="1549400"/>
            <a:ext cx="2236510" cy="400110"/>
          </a:xfrm>
          <a:prstGeom prst="rect">
            <a:avLst/>
          </a:prstGeom>
          <a:noFill/>
        </p:spPr>
        <p:txBody>
          <a:bodyPr vertOverflow="overflow" vert="horz" wrap="none" rtlCol="0" anchor="t">
            <a:spAutoFit/>
          </a:bodyPr>
          <a:lstStyle/>
          <a:p>
            <a:pPr algn="l"/>
            <a:r>
              <a:rPr lang="zh-CN" altLang="en-US" sz="2000" b="1">
                <a:solidFill>
                  <a:srgbClr val="6A005F"/>
                </a:solidFill>
              </a:rPr>
              <a:t>生产事故根因分析</a:t>
            </a:r>
          </a:p>
        </p:txBody>
      </p:sp>
      <p:sp>
        <p:nvSpPr>
          <p:cNvPr id="10" name="文本框 9">
            <a:extLst>
              <a:ext uri="{FF2B5EF4-FFF2-40B4-BE49-F238E27FC236}">
                <a16:creationId xmlns:a16="http://schemas.microsoft.com/office/drawing/2014/main" id="{64851F82-EE4C-A74B-9A25-D196C33366BD}"/>
              </a:ext>
            </a:extLst>
          </p:cNvPr>
          <p:cNvSpPr txBox="1"/>
          <p:nvPr/>
        </p:nvSpPr>
        <p:spPr>
          <a:xfrm>
            <a:off x="7620000" y="1562100"/>
            <a:ext cx="1569660" cy="369332"/>
          </a:xfrm>
          <a:prstGeom prst="rect">
            <a:avLst/>
          </a:prstGeom>
          <a:noFill/>
        </p:spPr>
        <p:txBody>
          <a:bodyPr vertOverflow="overflow" vert="horz" wrap="none" rtlCol="0" anchor="t">
            <a:spAutoFit/>
          </a:bodyPr>
          <a:lstStyle/>
          <a:p>
            <a:pPr algn="l"/>
            <a:r>
              <a:rPr lang="zh-CN" altLang="en-US" b="1">
                <a:solidFill>
                  <a:srgbClr val="6A005F"/>
                </a:solidFill>
              </a:rPr>
              <a:t>出事时找不到</a:t>
            </a:r>
          </a:p>
        </p:txBody>
      </p:sp>
      <p:sp>
        <p:nvSpPr>
          <p:cNvPr id="11" name="文本框 10">
            <a:extLst>
              <a:ext uri="{FF2B5EF4-FFF2-40B4-BE49-F238E27FC236}">
                <a16:creationId xmlns:a16="http://schemas.microsoft.com/office/drawing/2014/main" id="{4A8F230B-CBA0-E34F-9EE4-4610EA7A3830}"/>
              </a:ext>
            </a:extLst>
          </p:cNvPr>
          <p:cNvSpPr txBox="1"/>
          <p:nvPr/>
        </p:nvSpPr>
        <p:spPr>
          <a:xfrm>
            <a:off x="1955800" y="1930400"/>
            <a:ext cx="7620000" cy="646331"/>
          </a:xfrm>
          <a:prstGeom prst="rect">
            <a:avLst/>
          </a:prstGeom>
          <a:noFill/>
        </p:spPr>
        <p:txBody>
          <a:bodyPr vertOverflow="overflow" vert="horz" wrap="square" rtlCol="0" anchor="t">
            <a:spAutoFit/>
          </a:bodyPr>
          <a:lstStyle/>
          <a:p>
            <a:pPr algn="l"/>
            <a:r>
              <a:rPr lang="zh-CN" altLang="en-US" dirty="0">
                <a:solidFill>
                  <a:srgbClr val="3A3A3A"/>
                </a:solidFill>
              </a:rPr>
              <a:t>出了问题，没有人讲得清某个关键模块为什么这么写，找不到问题，也解决不了问题。</a:t>
            </a:r>
          </a:p>
        </p:txBody>
      </p:sp>
      <p:sp>
        <p:nvSpPr>
          <p:cNvPr id="12" name="圆角矩形 11">
            <a:extLst>
              <a:ext uri="{FF2B5EF4-FFF2-40B4-BE49-F238E27FC236}">
                <a16:creationId xmlns:a16="http://schemas.microsoft.com/office/drawing/2014/main" id="{0BB23902-FA4C-894C-A7AE-EBCA3E8A5ED4}"/>
              </a:ext>
            </a:extLst>
          </p:cNvPr>
          <p:cNvSpPr/>
          <p:nvPr/>
        </p:nvSpPr>
        <p:spPr>
          <a:xfrm>
            <a:off x="838200" y="2794000"/>
            <a:ext cx="10515600" cy="1270000"/>
          </a:xfrm>
          <a:prstGeom prst="roundRect">
            <a:avLst/>
          </a:prstGeom>
          <a:solidFill>
            <a:srgbClr val="F5EC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3" name="椭圆 12">
            <a:extLst>
              <a:ext uri="{FF2B5EF4-FFF2-40B4-BE49-F238E27FC236}">
                <a16:creationId xmlns:a16="http://schemas.microsoft.com/office/drawing/2014/main" id="{CBEA08DB-0803-C24E-BC4E-F7BFFEE017CE}"/>
              </a:ext>
            </a:extLst>
          </p:cNvPr>
          <p:cNvSpPr/>
          <p:nvPr/>
        </p:nvSpPr>
        <p:spPr>
          <a:xfrm>
            <a:off x="1117600" y="3136900"/>
            <a:ext cx="584200" cy="584200"/>
          </a:xfrm>
          <a:prstGeom prst="ellipse">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4" name="文本框 13">
            <a:extLst>
              <a:ext uri="{FF2B5EF4-FFF2-40B4-BE49-F238E27FC236}">
                <a16:creationId xmlns:a16="http://schemas.microsoft.com/office/drawing/2014/main" id="{6AB4448E-6AA3-0D42-8157-F862180C2B0C}"/>
              </a:ext>
            </a:extLst>
          </p:cNvPr>
          <p:cNvSpPr txBox="1"/>
          <p:nvPr/>
        </p:nvSpPr>
        <p:spPr>
          <a:xfrm>
            <a:off x="1955800" y="2946400"/>
            <a:ext cx="1210588" cy="400110"/>
          </a:xfrm>
          <a:prstGeom prst="rect">
            <a:avLst/>
          </a:prstGeom>
          <a:noFill/>
        </p:spPr>
        <p:txBody>
          <a:bodyPr vertOverflow="overflow" vert="horz" wrap="none" rtlCol="0" anchor="t">
            <a:spAutoFit/>
          </a:bodyPr>
          <a:lstStyle/>
          <a:p>
            <a:pPr algn="l"/>
            <a:r>
              <a:rPr lang="zh-CN" altLang="en-US" sz="2000" b="1" dirty="0">
                <a:solidFill>
                  <a:srgbClr val="6A005F"/>
                </a:solidFill>
              </a:rPr>
              <a:t>需求变更</a:t>
            </a:r>
          </a:p>
        </p:txBody>
      </p:sp>
      <p:sp>
        <p:nvSpPr>
          <p:cNvPr id="15" name="文本框 14">
            <a:extLst>
              <a:ext uri="{FF2B5EF4-FFF2-40B4-BE49-F238E27FC236}">
                <a16:creationId xmlns:a16="http://schemas.microsoft.com/office/drawing/2014/main" id="{BE10FEC0-F80A-8447-8F23-F77573A813F6}"/>
              </a:ext>
            </a:extLst>
          </p:cNvPr>
          <p:cNvSpPr txBox="1"/>
          <p:nvPr/>
        </p:nvSpPr>
        <p:spPr>
          <a:xfrm>
            <a:off x="7620000" y="2959100"/>
            <a:ext cx="1569660" cy="369332"/>
          </a:xfrm>
          <a:prstGeom prst="rect">
            <a:avLst/>
          </a:prstGeom>
          <a:noFill/>
        </p:spPr>
        <p:txBody>
          <a:bodyPr vertOverflow="overflow" vert="horz" wrap="none" rtlCol="0" anchor="t">
            <a:spAutoFit/>
          </a:bodyPr>
          <a:lstStyle/>
          <a:p>
            <a:pPr algn="l"/>
            <a:r>
              <a:rPr lang="zh-CN" altLang="en-US" b="1">
                <a:solidFill>
                  <a:srgbClr val="6A005F"/>
                </a:solidFill>
              </a:rPr>
              <a:t>要改时改不动</a:t>
            </a:r>
          </a:p>
        </p:txBody>
      </p:sp>
      <p:sp>
        <p:nvSpPr>
          <p:cNvPr id="16" name="文本框 15">
            <a:extLst>
              <a:ext uri="{FF2B5EF4-FFF2-40B4-BE49-F238E27FC236}">
                <a16:creationId xmlns:a16="http://schemas.microsoft.com/office/drawing/2014/main" id="{A661AC9B-27C7-A54C-8A23-4002D31384AE}"/>
              </a:ext>
            </a:extLst>
          </p:cNvPr>
          <p:cNvSpPr txBox="1"/>
          <p:nvPr/>
        </p:nvSpPr>
        <p:spPr>
          <a:xfrm>
            <a:off x="1955800" y="3327400"/>
            <a:ext cx="7620000" cy="646331"/>
          </a:xfrm>
          <a:prstGeom prst="rect">
            <a:avLst/>
          </a:prstGeom>
          <a:noFill/>
        </p:spPr>
        <p:txBody>
          <a:bodyPr vertOverflow="overflow" vert="horz" wrap="square" rtlCol="0" anchor="t">
            <a:spAutoFit/>
          </a:bodyPr>
          <a:lstStyle/>
          <a:p>
            <a:pPr algn="l"/>
            <a:r>
              <a:rPr lang="zh-CN" altLang="en-US" dirty="0">
                <a:solidFill>
                  <a:srgbClr val="3A3A3A"/>
                </a:solidFill>
              </a:rPr>
              <a:t>想在原有设计上扩展，却没人说得清当初的约束与取舍，不敢改也改不动，最终要么推倒重来，要么埋下新的隐患。</a:t>
            </a:r>
          </a:p>
        </p:txBody>
      </p:sp>
      <p:sp>
        <p:nvSpPr>
          <p:cNvPr id="17" name="圆角矩形 16">
            <a:extLst>
              <a:ext uri="{FF2B5EF4-FFF2-40B4-BE49-F238E27FC236}">
                <a16:creationId xmlns:a16="http://schemas.microsoft.com/office/drawing/2014/main" id="{783DBA64-F0D9-5B43-9A56-97F25605094F}"/>
              </a:ext>
            </a:extLst>
          </p:cNvPr>
          <p:cNvSpPr/>
          <p:nvPr/>
        </p:nvSpPr>
        <p:spPr>
          <a:xfrm>
            <a:off x="838200" y="4191000"/>
            <a:ext cx="10515600" cy="1270000"/>
          </a:xfrm>
          <a:prstGeom prst="roundRect">
            <a:avLst/>
          </a:prstGeom>
          <a:solidFill>
            <a:srgbClr val="F5EC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8" name="椭圆 17">
            <a:extLst>
              <a:ext uri="{FF2B5EF4-FFF2-40B4-BE49-F238E27FC236}">
                <a16:creationId xmlns:a16="http://schemas.microsoft.com/office/drawing/2014/main" id="{B1CBAC95-D197-2442-A4CF-A1D185F8627C}"/>
              </a:ext>
            </a:extLst>
          </p:cNvPr>
          <p:cNvSpPr/>
          <p:nvPr/>
        </p:nvSpPr>
        <p:spPr>
          <a:xfrm>
            <a:off x="1117600" y="4533900"/>
            <a:ext cx="584200" cy="584200"/>
          </a:xfrm>
          <a:prstGeom prst="ellipse">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9" name="文本框 18">
            <a:extLst>
              <a:ext uri="{FF2B5EF4-FFF2-40B4-BE49-F238E27FC236}">
                <a16:creationId xmlns:a16="http://schemas.microsoft.com/office/drawing/2014/main" id="{27BF1A4B-2558-CB4F-9DE6-3A5CEEFC4211}"/>
              </a:ext>
            </a:extLst>
          </p:cNvPr>
          <p:cNvSpPr txBox="1"/>
          <p:nvPr/>
        </p:nvSpPr>
        <p:spPr>
          <a:xfrm>
            <a:off x="1955800" y="4343400"/>
            <a:ext cx="1560042" cy="400110"/>
          </a:xfrm>
          <a:prstGeom prst="rect">
            <a:avLst/>
          </a:prstGeom>
          <a:noFill/>
        </p:spPr>
        <p:txBody>
          <a:bodyPr vertOverflow="overflow" vert="horz" wrap="none" rtlCol="0" anchor="t">
            <a:spAutoFit/>
          </a:bodyPr>
          <a:lstStyle/>
          <a:p>
            <a:pPr algn="l"/>
            <a:r>
              <a:rPr lang="en-US" altLang="zh-CN" sz="2000" b="1" dirty="0">
                <a:solidFill>
                  <a:srgbClr val="6A005F"/>
                </a:solidFill>
              </a:rPr>
              <a:t>AI </a:t>
            </a:r>
            <a:r>
              <a:rPr lang="zh-CN" altLang="en-US" sz="2000" b="1" dirty="0">
                <a:solidFill>
                  <a:srgbClr val="6A005F"/>
                </a:solidFill>
              </a:rPr>
              <a:t>也读不懂</a:t>
            </a:r>
          </a:p>
        </p:txBody>
      </p:sp>
      <p:sp>
        <p:nvSpPr>
          <p:cNvPr id="20" name="文本框 19">
            <a:extLst>
              <a:ext uri="{FF2B5EF4-FFF2-40B4-BE49-F238E27FC236}">
                <a16:creationId xmlns:a16="http://schemas.microsoft.com/office/drawing/2014/main" id="{EEF0F3C7-3A9B-1448-B63A-E2C295145DFD}"/>
              </a:ext>
            </a:extLst>
          </p:cNvPr>
          <p:cNvSpPr txBox="1"/>
          <p:nvPr/>
        </p:nvSpPr>
        <p:spPr>
          <a:xfrm>
            <a:off x="7620000" y="4356100"/>
            <a:ext cx="1755609" cy="369332"/>
          </a:xfrm>
          <a:prstGeom prst="rect">
            <a:avLst/>
          </a:prstGeom>
          <a:noFill/>
        </p:spPr>
        <p:txBody>
          <a:bodyPr vertOverflow="overflow" vert="horz" wrap="none" rtlCol="0" anchor="t">
            <a:spAutoFit/>
          </a:bodyPr>
          <a:lstStyle/>
          <a:p>
            <a:pPr algn="l"/>
            <a:r>
              <a:rPr lang="en-US" altLang="zh-CN" b="1" dirty="0">
                <a:solidFill>
                  <a:srgbClr val="6A005F"/>
                </a:solidFill>
              </a:rPr>
              <a:t>Agent </a:t>
            </a:r>
            <a:r>
              <a:rPr lang="zh-CN" altLang="en-US" b="1" dirty="0">
                <a:solidFill>
                  <a:srgbClr val="6A005F"/>
                </a:solidFill>
              </a:rPr>
              <a:t>只能靠猜</a:t>
            </a:r>
          </a:p>
        </p:txBody>
      </p:sp>
      <p:sp>
        <p:nvSpPr>
          <p:cNvPr id="21" name="文本框 20">
            <a:extLst>
              <a:ext uri="{FF2B5EF4-FFF2-40B4-BE49-F238E27FC236}">
                <a16:creationId xmlns:a16="http://schemas.microsoft.com/office/drawing/2014/main" id="{6F72DC9C-5532-404B-AF2D-CB132B115B6F}"/>
              </a:ext>
            </a:extLst>
          </p:cNvPr>
          <p:cNvSpPr txBox="1"/>
          <p:nvPr/>
        </p:nvSpPr>
        <p:spPr>
          <a:xfrm>
            <a:off x="1955800" y="4724400"/>
            <a:ext cx="7620000" cy="646331"/>
          </a:xfrm>
          <a:prstGeom prst="rect">
            <a:avLst/>
          </a:prstGeom>
          <a:noFill/>
        </p:spPr>
        <p:txBody>
          <a:bodyPr vertOverflow="overflow" vert="horz" wrap="square" rtlCol="0" anchor="t">
            <a:spAutoFit/>
          </a:bodyPr>
          <a:lstStyle/>
          <a:p>
            <a:pPr algn="l"/>
            <a:r>
              <a:rPr lang="zh-CN" altLang="en-US" dirty="0">
                <a:solidFill>
                  <a:srgbClr val="3A3A3A"/>
                </a:solidFill>
              </a:rPr>
              <a:t>没有被记录下来的设计意图，</a:t>
            </a:r>
            <a:r>
              <a:rPr lang="en-US" altLang="zh-CN" dirty="0">
                <a:solidFill>
                  <a:srgbClr val="3A3A3A"/>
                </a:solidFill>
              </a:rPr>
              <a:t>AI / Agent </a:t>
            </a:r>
            <a:r>
              <a:rPr lang="zh-CN" altLang="en-US" dirty="0">
                <a:solidFill>
                  <a:srgbClr val="3A3A3A"/>
                </a:solidFill>
              </a:rPr>
              <a:t>接手时只能靠猜，给出看似合理、实则破坏隐含约束的改动。</a:t>
            </a:r>
          </a:p>
        </p:txBody>
      </p:sp>
      <p:sp>
        <p:nvSpPr>
          <p:cNvPr id="22" name="圆角矩形 21">
            <a:extLst>
              <a:ext uri="{FF2B5EF4-FFF2-40B4-BE49-F238E27FC236}">
                <a16:creationId xmlns:a16="http://schemas.microsoft.com/office/drawing/2014/main" id="{CB9C1CFE-6B07-2145-8CD0-CA68B3DB2CFF}"/>
              </a:ext>
            </a:extLst>
          </p:cNvPr>
          <p:cNvSpPr/>
          <p:nvPr/>
        </p:nvSpPr>
        <p:spPr>
          <a:xfrm>
            <a:off x="838200" y="5574100"/>
            <a:ext cx="10515600" cy="711200"/>
          </a:xfrm>
          <a:prstGeom prst="roundRect">
            <a:avLst/>
          </a:prstGeom>
          <a:solidFill>
            <a:srgbClr val="FBE9E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lstStyle/>
          <a:p>
            <a:pPr algn="ctr"/>
            <a:r>
              <a:rPr lang="zh-CN" altLang="en-US" sz="2100" b="1" dirty="0">
                <a:solidFill>
                  <a:srgbClr val="C00000"/>
                </a:solidFill>
              </a:rPr>
              <a:t>对中大型、长生命周期的真实项目，这是无法承受之重。</a:t>
            </a:r>
          </a:p>
        </p:txBody>
      </p:sp>
      <p:pic>
        <p:nvPicPr>
          <p:cNvPr id="23" name="Graphic 23" descr="找不到根因"/>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300" y="1752600"/>
            <a:ext cx="304800" cy="304800"/>
          </a:xfrm>
          <a:prstGeom prst="rect">
            <a:avLst/>
          </a:prstGeom>
        </p:spPr>
      </p:pic>
      <p:pic>
        <p:nvPicPr>
          <p:cNvPr id="24" name="Graphic 24" descr="改不动"/>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300" y="3149600"/>
            <a:ext cx="304800" cy="304800"/>
          </a:xfrm>
          <a:prstGeom prst="rect">
            <a:avLst/>
          </a:prstGeom>
        </p:spPr>
      </p:pic>
      <p:pic>
        <p:nvPicPr>
          <p:cNvPr id="25" name="Graphic 25" descr="AI读不懂"/>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57300" y="4546600"/>
            <a:ext cx="304800" cy="304800"/>
          </a:xfrm>
          <a:prstGeom prst="rect">
            <a:avLst/>
          </a:prstGeom>
        </p:spPr>
      </p:pic>
    </p:spTree>
    <p:extLst>
      <p:ext uri="{BB962C8B-B14F-4D97-AF65-F5344CB8AC3E}">
        <p14:creationId xmlns:p14="http://schemas.microsoft.com/office/powerpoint/2010/main" val="18446961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11</a:t>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zh-CN" altLang="en-US" dirty="0"/>
              <a:t>为什么人仍然需要理解代码（重建理论）</a:t>
            </a:r>
          </a:p>
        </p:txBody>
      </p:sp>
      <p:sp>
        <p:nvSpPr>
          <p:cNvPr id="4" name="内容占位符 3"/>
          <p:cNvSpPr>
            <a:spLocks noGrp="1"/>
          </p:cNvSpPr>
          <p:nvPr>
            <p:ph idx="1"/>
          </p:nvPr>
        </p:nvSpPr>
        <p:spPr/>
        <p:txBody>
          <a:bodyPr/>
          <a:lstStyle/>
          <a:p>
            <a:r>
              <a:rPr lang="zh-CN" altLang="en-US" dirty="0"/>
              <a:t>信任的根本来源不是代码的行为正确性，而是有人持有关于</a:t>
            </a:r>
            <a:r>
              <a:rPr lang="en-US" altLang="zh-CN" dirty="0"/>
              <a:t>"</a:t>
            </a:r>
            <a:r>
              <a:rPr lang="zh-CN" altLang="en-US" dirty="0"/>
              <a:t>代码为什么这样工作</a:t>
            </a:r>
            <a:r>
              <a:rPr lang="en-US" altLang="zh-CN" dirty="0"/>
              <a:t>"</a:t>
            </a:r>
            <a:r>
              <a:rPr lang="zh-CN" altLang="en-US" dirty="0"/>
              <a:t>的理论。模型再强、基准再高，只要没人持有理论，</a:t>
            </a:r>
            <a:r>
              <a:rPr lang="en-US" altLang="zh-CN" dirty="0"/>
              <a:t>"</a:t>
            </a:r>
            <a:r>
              <a:rPr lang="zh-CN" altLang="en-US" dirty="0"/>
              <a:t>代码能跑</a:t>
            </a:r>
            <a:r>
              <a:rPr lang="en-US" altLang="zh-CN" dirty="0"/>
              <a:t>"</a:t>
            </a:r>
            <a:r>
              <a:rPr lang="zh-CN" altLang="en-US" dirty="0"/>
              <a:t>就不等于</a:t>
            </a:r>
            <a:r>
              <a:rPr lang="en-US" altLang="zh-CN" dirty="0"/>
              <a:t>"</a:t>
            </a:r>
            <a:r>
              <a:rPr lang="zh-CN" altLang="en-US" dirty="0"/>
              <a:t>系统可信</a:t>
            </a:r>
            <a:r>
              <a:rPr lang="en-US" altLang="zh-CN" dirty="0"/>
              <a:t>"</a:t>
            </a:r>
            <a:r>
              <a:rPr lang="zh-CN" altLang="en-US" dirty="0"/>
              <a:t>。</a:t>
            </a:r>
            <a:endParaRPr lang="en-US" altLang="zh-CN" dirty="0"/>
          </a:p>
          <a:p>
            <a:r>
              <a:rPr lang="zh-CN" altLang="en-US" dirty="0"/>
              <a:t>当智能体写下大量代码、而无人持有其背后的理论时，等价于 </a:t>
            </a:r>
            <a:r>
              <a:rPr lang="en-US" altLang="zh-CN" dirty="0"/>
              <a:t>Naur </a:t>
            </a:r>
            <a:r>
              <a:rPr lang="zh-CN" altLang="en-US" dirty="0"/>
              <a:t>描述的</a:t>
            </a:r>
            <a:r>
              <a:rPr lang="en-US" altLang="zh-CN" dirty="0"/>
              <a:t>“</a:t>
            </a:r>
            <a:r>
              <a:rPr lang="zh-CN" altLang="en-US" dirty="0"/>
              <a:t>团队全部离开</a:t>
            </a:r>
            <a:r>
              <a:rPr lang="en-US" altLang="zh-CN" dirty="0"/>
              <a:t>”</a:t>
            </a:r>
            <a:r>
              <a:rPr lang="zh-CN" altLang="en-US" dirty="0"/>
              <a:t>，只是这次的理论缺位，是因为代码从一开始就没谁持有理论。</a:t>
            </a:r>
            <a:r>
              <a:rPr lang="en-US" altLang="zh-CN" dirty="0">
                <a:solidFill>
                  <a:srgbClr val="FF0000"/>
                </a:solidFill>
              </a:rPr>
              <a:t>AI </a:t>
            </a:r>
            <a:r>
              <a:rPr lang="zh-CN" altLang="en-US" dirty="0">
                <a:solidFill>
                  <a:srgbClr val="FF0000"/>
                </a:solidFill>
              </a:rPr>
              <a:t>生成的代码一开始就死亡了！</a:t>
            </a:r>
            <a:endParaRPr kumimoji="1" lang="zh-CN" altLang="en-US" dirty="0">
              <a:solidFill>
                <a:srgbClr val="FF0000"/>
              </a:solidFill>
            </a:endParaRPr>
          </a:p>
        </p:txBody>
      </p:sp>
    </p:spTree>
    <p:extLst>
      <p:ext uri="{BB962C8B-B14F-4D97-AF65-F5344CB8AC3E}">
        <p14:creationId xmlns:p14="http://schemas.microsoft.com/office/powerpoint/2010/main" val="191292838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29FC8-C1D3-384D-0949-0AAED276857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838F743-856B-40EE-8777-D50ACD14ED3E}"/>
              </a:ext>
            </a:extLst>
          </p:cNvPr>
          <p:cNvSpPr>
            <a:spLocks noGrp="1"/>
          </p:cNvSpPr>
          <p:nvPr>
            <p:ph type="sldNum" sz="quarter" idx="12"/>
          </p:nvPr>
        </p:nvSpPr>
        <p:spPr/>
        <p:txBody>
          <a:bodyPr/>
          <a:lstStyle/>
          <a:p>
            <a:fld id="{51D91E7F-84B6-4064-9D4E-CC7D244BCA04}" type="slidenum">
              <a:rPr lang="zh-CN" altLang="en-US" smtClean="0"/>
              <a:t>12</a:t>
            </a:fld>
            <a:endParaRPr lang="zh-CN" altLang="en-US"/>
          </a:p>
        </p:txBody>
      </p:sp>
      <p:sp>
        <p:nvSpPr>
          <p:cNvPr id="3" name="文本占位符 2">
            <a:extLst>
              <a:ext uri="{FF2B5EF4-FFF2-40B4-BE49-F238E27FC236}">
                <a16:creationId xmlns:a16="http://schemas.microsoft.com/office/drawing/2014/main" id="{3C7363F1-7F13-5C76-371A-A27FB08BA5D3}"/>
              </a:ext>
            </a:extLst>
          </p:cNvPr>
          <p:cNvSpPr>
            <a:spLocks noGrp="1"/>
          </p:cNvSpPr>
          <p:nvPr>
            <p:ph type="body" sz="quarter" idx="13"/>
          </p:nvPr>
        </p:nvSpPr>
        <p:spPr>
          <a:xfrm>
            <a:off x="1032184" y="297936"/>
            <a:ext cx="10321616" cy="584775"/>
          </a:xfrm>
        </p:spPr>
        <p:txBody>
          <a:bodyPr/>
          <a:lstStyle/>
          <a:p>
            <a:r>
              <a:rPr lang="zh-CN" altLang="en-US" dirty="0"/>
              <a:t>理解力负债</a:t>
            </a:r>
          </a:p>
        </p:txBody>
      </p:sp>
      <p:sp>
        <p:nvSpPr>
          <p:cNvPr id="4" name="内容占位符 3">
            <a:extLst>
              <a:ext uri="{FF2B5EF4-FFF2-40B4-BE49-F238E27FC236}">
                <a16:creationId xmlns:a16="http://schemas.microsoft.com/office/drawing/2014/main" id="{138E7765-C273-BB82-15D7-871994F8E588}"/>
              </a:ext>
            </a:extLst>
          </p:cNvPr>
          <p:cNvSpPr>
            <a:spLocks noGrp="1"/>
          </p:cNvSpPr>
          <p:nvPr>
            <p:ph idx="1"/>
          </p:nvPr>
        </p:nvSpPr>
        <p:spPr/>
        <p:txBody>
          <a:bodyPr>
            <a:normAutofit fontScale="92500"/>
          </a:bodyPr>
          <a:lstStyle/>
          <a:p>
            <a:r>
              <a:rPr lang="en-US" altLang="zh-CN" dirty="0"/>
              <a:t>Addy Osmani 2026 </a:t>
            </a:r>
            <a:r>
              <a:rPr lang="zh-CN" altLang="en-US" dirty="0"/>
              <a:t>年 </a:t>
            </a:r>
            <a:r>
              <a:rPr lang="en-US" altLang="zh-CN" dirty="0"/>
              <a:t>3 </a:t>
            </a:r>
            <a:r>
              <a:rPr lang="zh-CN" altLang="en-US" dirty="0"/>
              <a:t>月</a:t>
            </a:r>
            <a:r>
              <a:rPr lang="zh-CN" altLang="en-US" i="1" dirty="0"/>
              <a:t>：</a:t>
            </a:r>
            <a:r>
              <a:rPr lang="en-US" altLang="zh-CN" b="1" dirty="0"/>
              <a:t> comprehension debt</a:t>
            </a:r>
            <a:r>
              <a:rPr lang="zh-CN" altLang="en-US" i="1" dirty="0"/>
              <a:t>理解力负债 </a:t>
            </a:r>
            <a:r>
              <a:rPr lang="en-US" altLang="zh-CN" i="1" dirty="0"/>
              <a:t>= </a:t>
            </a:r>
            <a:r>
              <a:rPr lang="zh-CN" altLang="en-US" i="1" dirty="0"/>
              <a:t>系统中存在的代码量与</a:t>
            </a:r>
            <a:r>
              <a:rPr lang="en-US" altLang="zh-CN" i="1" dirty="0"/>
              <a:t>"</a:t>
            </a:r>
            <a:r>
              <a:rPr lang="zh-CN" altLang="en-US" i="1" dirty="0"/>
              <a:t>任何人真正理解的代码量</a:t>
            </a:r>
            <a:r>
              <a:rPr lang="en-US" altLang="zh-CN" i="1" dirty="0"/>
              <a:t>"</a:t>
            </a:r>
            <a:r>
              <a:rPr lang="zh-CN" altLang="en-US" i="1" dirty="0"/>
              <a:t>之间不断扩大的差距。</a:t>
            </a:r>
            <a:endParaRPr lang="en-US" altLang="zh-CN" i="1" dirty="0"/>
          </a:p>
          <a:p>
            <a:r>
              <a:rPr lang="zh-CN" altLang="en-US" dirty="0"/>
              <a:t>无声累积，滋生虚假信心：代码看起来干净、风格一致、测试甚至能过，却无人理解其边界条件与隐含假设。事件触发瞬间 一次性兑付。</a:t>
            </a:r>
            <a:endParaRPr lang="en-US" altLang="zh-CN" dirty="0"/>
          </a:p>
          <a:p>
            <a:r>
              <a:rPr kumimoji="1" lang="zh-CN" altLang="en-US" dirty="0"/>
              <a:t>对比技术债（</a:t>
            </a:r>
            <a:r>
              <a:rPr kumimoji="1" lang="en-US" altLang="zh-CN" dirty="0"/>
              <a:t>Cunningham 1992</a:t>
            </a:r>
            <a:r>
              <a:rPr kumimoji="1" lang="zh-CN" altLang="en-US" dirty="0"/>
              <a:t>）：</a:t>
            </a:r>
            <a:r>
              <a:rPr lang="zh-CN" altLang="en-US" dirty="0"/>
              <a:t>有意识地选择的次优设计，未来</a:t>
            </a:r>
            <a:r>
              <a:rPr lang="en-US" altLang="zh-CN" dirty="0"/>
              <a:t>"</a:t>
            </a:r>
            <a:r>
              <a:rPr lang="zh-CN" altLang="en-US" dirty="0"/>
              <a:t>还本付息</a:t>
            </a:r>
            <a:r>
              <a:rPr lang="en-US" altLang="zh-CN" dirty="0"/>
              <a:t>"</a:t>
            </a:r>
            <a:r>
              <a:rPr lang="zh-CN" altLang="en-US" dirty="0"/>
              <a:t>。它会通过摩擦自报告：构建变慢、依赖纠缠、修改某模块时的预感性恐惧。</a:t>
            </a:r>
            <a:endParaRPr kumimoji="1" lang="zh-CN" altLang="en-US" dirty="0"/>
          </a:p>
        </p:txBody>
      </p:sp>
      <p:sp>
        <p:nvSpPr>
          <p:cNvPr id="5" name="PartQuestion">
            <a:extLst>
              <a:ext uri="{FF2B5EF4-FFF2-40B4-BE49-F238E27FC236}">
                <a16:creationId xmlns:a16="http://schemas.microsoft.com/office/drawing/2014/main" id="{DEEDACB9-4704-9241-8A8B-2CBF66249253}"/>
              </a:ext>
            </a:extLst>
          </p:cNvPr>
          <p:cNvSpPr txBox="1"/>
          <p:nvPr/>
        </p:nvSpPr>
        <p:spPr>
          <a:xfrm>
            <a:off x="1054100" y="914400"/>
            <a:ext cx="9906000" cy="330200"/>
          </a:xfrm>
          <a:prstGeom prst="rect">
            <a:avLst/>
          </a:prstGeom>
          <a:noFill/>
        </p:spPr>
        <p:txBody>
          <a:bodyPr vertOverflow="overflow" vert="horz" wrap="square" rtlCol="0" anchor="t" anchorCtr="0">
            <a:noAutofit/>
          </a:bodyPr>
          <a:lstStyle/>
          <a:p>
            <a:pPr algn="l"/>
            <a:r>
              <a:rPr lang="zh-CN" altLang="en-US" sz="1500" i="1">
                <a:solidFill>
                  <a:srgbClr val="6A005F"/>
                </a:solidFill>
              </a:rPr>
              <a:t>没人真懂代码，会付出什么代价？</a:t>
            </a:r>
          </a:p>
        </p:txBody>
      </p:sp>
    </p:spTree>
    <p:extLst>
      <p:ext uri="{BB962C8B-B14F-4D97-AF65-F5344CB8AC3E}">
        <p14:creationId xmlns:p14="http://schemas.microsoft.com/office/powerpoint/2010/main" val="12255482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F8A6-5B5E-383B-FC6E-8BE96A1BB6AA}"/>
            </a:ext>
          </a:extLst>
        </p:cNvPr>
        <p:cNvGrpSpPr/>
        <p:nvPr/>
      </p:nvGrpSpPr>
      <p:grpSpPr>
        <a:xfrm>
          <a:off x="0" y="0"/>
          <a:ext cx="0" cy="0"/>
          <a:chOff x="0" y="0"/>
          <a:chExt cx="0" cy="0"/>
        </a:xfrm>
      </p:grpSpPr>
      <p:sp>
        <p:nvSpPr>
          <p:cNvPr id="16" name="矩形 15">
            <a:extLst>
              <a:ext uri="{FF2B5EF4-FFF2-40B4-BE49-F238E27FC236}">
                <a16:creationId xmlns:a16="http://schemas.microsoft.com/office/drawing/2014/main" id="{A451E40F-49BF-D24C-806F-02204571F8C9}"/>
              </a:ext>
            </a:extLst>
          </p:cNvPr>
          <p:cNvSpPr/>
          <p:nvPr/>
        </p:nvSpPr>
        <p:spPr>
          <a:xfrm>
            <a:off x="1212850" y="1384300"/>
            <a:ext cx="38100" cy="3352800"/>
          </a:xfrm>
          <a:prstGeom prst="rect">
            <a:avLst/>
          </a:prstGeom>
          <a:solidFill>
            <a:srgbClr val="D9BFD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2" name="灯片编号占位符 1">
            <a:extLst>
              <a:ext uri="{FF2B5EF4-FFF2-40B4-BE49-F238E27FC236}">
                <a16:creationId xmlns:a16="http://schemas.microsoft.com/office/drawing/2014/main" id="{73C0954F-9B41-076C-6F83-E8CB0678490C}"/>
              </a:ext>
            </a:extLst>
          </p:cNvPr>
          <p:cNvSpPr>
            <a:spLocks noGrp="1"/>
          </p:cNvSpPr>
          <p:nvPr>
            <p:ph type="sldNum" sz="quarter" idx="12"/>
          </p:nvPr>
        </p:nvSpPr>
        <p:spPr/>
        <p:txBody>
          <a:bodyPr/>
          <a:lstStyle/>
          <a:p>
            <a:fld id="{51D91E7F-84B6-4064-9D4E-CC7D244BCA04}" type="slidenum">
              <a:rPr lang="zh-CN" altLang="en-US" smtClean="0"/>
              <a:t>13</a:t>
            </a:fld>
            <a:endParaRPr lang="zh-CN" altLang="en-US"/>
          </a:p>
        </p:txBody>
      </p:sp>
      <p:sp>
        <p:nvSpPr>
          <p:cNvPr id="3" name="文本占位符 2">
            <a:extLst>
              <a:ext uri="{FF2B5EF4-FFF2-40B4-BE49-F238E27FC236}">
                <a16:creationId xmlns:a16="http://schemas.microsoft.com/office/drawing/2014/main" id="{B9A96CAE-051C-7415-3E13-AB9FA2E8AAEE}"/>
              </a:ext>
            </a:extLst>
          </p:cNvPr>
          <p:cNvSpPr>
            <a:spLocks noGrp="1"/>
          </p:cNvSpPr>
          <p:nvPr>
            <p:ph type="body" sz="quarter" idx="13"/>
          </p:nvPr>
        </p:nvSpPr>
        <p:spPr>
          <a:xfrm>
            <a:off x="1032184" y="297936"/>
            <a:ext cx="10321616" cy="584775"/>
          </a:xfrm>
        </p:spPr>
        <p:txBody>
          <a:bodyPr/>
          <a:lstStyle/>
          <a:p>
            <a:r>
              <a:rPr lang="zh-CN" altLang="en-US" dirty="0"/>
              <a:t>偿还理解力负债</a:t>
            </a:r>
          </a:p>
        </p:txBody>
      </p:sp>
      <p:sp>
        <p:nvSpPr>
          <p:cNvPr id="17" name="椭圆 16">
            <a:extLst>
              <a:ext uri="{FF2B5EF4-FFF2-40B4-BE49-F238E27FC236}">
                <a16:creationId xmlns:a16="http://schemas.microsoft.com/office/drawing/2014/main" id="{782C5531-392F-BD45-AC76-A2A14607E9AB}"/>
              </a:ext>
            </a:extLst>
          </p:cNvPr>
          <p:cNvSpPr/>
          <p:nvPr/>
        </p:nvSpPr>
        <p:spPr>
          <a:xfrm>
            <a:off x="1016000" y="1168400"/>
            <a:ext cx="431800" cy="431800"/>
          </a:xfrm>
          <a:prstGeom prst="ellipse">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zh-CN" sz="1600" b="1">
                <a:solidFill>
                  <a:srgbClr val="FFFFFF"/>
                </a:solidFill>
              </a:rPr>
              <a:t>1</a:t>
            </a:r>
            <a:endParaRPr lang="zh-CN" altLang="en-US" sz="1600" b="1">
              <a:solidFill>
                <a:srgbClr val="FFFFFF"/>
              </a:solidFill>
            </a:endParaRPr>
          </a:p>
        </p:txBody>
      </p:sp>
      <p:sp>
        <p:nvSpPr>
          <p:cNvPr id="18" name="文本框 17">
            <a:extLst>
              <a:ext uri="{FF2B5EF4-FFF2-40B4-BE49-F238E27FC236}">
                <a16:creationId xmlns:a16="http://schemas.microsoft.com/office/drawing/2014/main" id="{54223877-6FC3-8044-8444-2243EF873493}"/>
              </a:ext>
            </a:extLst>
          </p:cNvPr>
          <p:cNvSpPr txBox="1"/>
          <p:nvPr/>
        </p:nvSpPr>
        <p:spPr>
          <a:xfrm>
            <a:off x="1600200" y="1155700"/>
            <a:ext cx="9753600" cy="304800"/>
          </a:xfrm>
          <a:prstGeom prst="rect">
            <a:avLst/>
          </a:prstGeom>
          <a:noFill/>
        </p:spPr>
        <p:txBody>
          <a:bodyPr vertOverflow="overflow" vert="horz" wrap="square" rtlCol="0" anchor="t">
            <a:noAutofit/>
          </a:bodyPr>
          <a:lstStyle/>
          <a:p>
            <a:pPr algn="l"/>
            <a:r>
              <a:rPr lang="zh-CN" altLang="en-US" sz="1700" b="1">
                <a:solidFill>
                  <a:srgbClr val="6A005F"/>
                </a:solidFill>
              </a:rPr>
              <a:t>代码评审作理论传递</a:t>
            </a:r>
          </a:p>
        </p:txBody>
      </p:sp>
      <p:sp>
        <p:nvSpPr>
          <p:cNvPr id="19" name="文本框 18">
            <a:extLst>
              <a:ext uri="{FF2B5EF4-FFF2-40B4-BE49-F238E27FC236}">
                <a16:creationId xmlns:a16="http://schemas.microsoft.com/office/drawing/2014/main" id="{A1421023-2346-7445-B3CD-FE4773CE7775}"/>
              </a:ext>
            </a:extLst>
          </p:cNvPr>
          <p:cNvSpPr txBox="1"/>
          <p:nvPr/>
        </p:nvSpPr>
        <p:spPr>
          <a:xfrm>
            <a:off x="1600200" y="1511300"/>
            <a:ext cx="9753600" cy="876300"/>
          </a:xfrm>
          <a:prstGeom prst="rect">
            <a:avLst/>
          </a:prstGeom>
          <a:noFill/>
        </p:spPr>
        <p:txBody>
          <a:bodyPr vertOverflow="overflow" vert="horz" wrap="square" rtlCol="0" anchor="t">
            <a:noAutofit/>
          </a:bodyPr>
          <a:lstStyle/>
          <a:p>
            <a:pPr algn="l"/>
            <a:r>
              <a:rPr lang="zh-CN" altLang="en-US" sz="1400" dirty="0">
                <a:solidFill>
                  <a:srgbClr val="3A3A3A"/>
                </a:solidFill>
              </a:rPr>
              <a:t>评审本有两个功能</a:t>
            </a:r>
            <a:r>
              <a:rPr lang="en-US" altLang="zh-CN" sz="1400" dirty="0">
                <a:solidFill>
                  <a:srgbClr val="3A3A3A"/>
                </a:solidFill>
              </a:rPr>
              <a:t>——</a:t>
            </a:r>
            <a:r>
              <a:rPr lang="zh-CN" altLang="en-US" sz="1400" dirty="0">
                <a:solidFill>
                  <a:srgbClr val="3A3A3A"/>
                </a:solidFill>
              </a:rPr>
              <a:t>质量门禁 </a:t>
            </a:r>
            <a:r>
              <a:rPr lang="en-US" altLang="zh-CN" sz="1400" dirty="0">
                <a:solidFill>
                  <a:srgbClr val="3A3A3A"/>
                </a:solidFill>
              </a:rPr>
              <a:t>+ </a:t>
            </a:r>
            <a:r>
              <a:rPr lang="zh-CN" altLang="en-US" sz="1400" dirty="0">
                <a:solidFill>
                  <a:srgbClr val="3A3A3A"/>
                </a:solidFill>
              </a:rPr>
              <a:t>知识分发；在 </a:t>
            </a:r>
            <a:r>
              <a:rPr lang="en-US" altLang="zh-CN" sz="1400" dirty="0">
                <a:solidFill>
                  <a:srgbClr val="3A3A3A"/>
                </a:solidFill>
              </a:rPr>
              <a:t>AI </a:t>
            </a:r>
            <a:r>
              <a:rPr lang="zh-CN" altLang="en-US" sz="1400" dirty="0">
                <a:solidFill>
                  <a:srgbClr val="3A3A3A"/>
                </a:solidFill>
              </a:rPr>
              <a:t>生成速度下，光挑语法、找缺陷已经不够。评审者真正的活，是从「找 </a:t>
            </a:r>
            <a:r>
              <a:rPr lang="en-US" altLang="zh-CN" sz="1400" dirty="0">
                <a:solidFill>
                  <a:srgbClr val="3A3A3A"/>
                </a:solidFill>
              </a:rPr>
              <a:t>bug</a:t>
            </a:r>
            <a:r>
              <a:rPr lang="zh-CN" altLang="en-US" sz="1400" dirty="0">
                <a:solidFill>
                  <a:srgbClr val="3A3A3A"/>
                </a:solidFill>
              </a:rPr>
              <a:t>」转向「理论传递」：逼出代码背后的「为什么」，把隐含假设与设计取舍问出来，确保至少有一个人能脱离 </a:t>
            </a:r>
            <a:r>
              <a:rPr lang="en-US" altLang="zh-CN" sz="1400" dirty="0">
                <a:solidFill>
                  <a:srgbClr val="3A3A3A"/>
                </a:solidFill>
              </a:rPr>
              <a:t>AI </a:t>
            </a:r>
            <a:r>
              <a:rPr lang="zh-CN" altLang="en-US" sz="1400" dirty="0">
                <a:solidFill>
                  <a:srgbClr val="3A3A3A"/>
                </a:solidFill>
              </a:rPr>
              <a:t>提示讲清这段逻辑。</a:t>
            </a:r>
          </a:p>
        </p:txBody>
      </p:sp>
      <p:sp>
        <p:nvSpPr>
          <p:cNvPr id="20" name="文本框 19">
            <a:extLst>
              <a:ext uri="{FF2B5EF4-FFF2-40B4-BE49-F238E27FC236}">
                <a16:creationId xmlns:a16="http://schemas.microsoft.com/office/drawing/2014/main" id="{155BF34A-BE70-CE42-929D-361AD1F7A372}"/>
              </a:ext>
            </a:extLst>
          </p:cNvPr>
          <p:cNvSpPr txBox="1"/>
          <p:nvPr/>
        </p:nvSpPr>
        <p:spPr>
          <a:xfrm>
            <a:off x="1600200" y="2355850"/>
            <a:ext cx="9753600" cy="406400"/>
          </a:xfrm>
          <a:prstGeom prst="rect">
            <a:avLst/>
          </a:prstGeom>
          <a:noFill/>
        </p:spPr>
        <p:txBody>
          <a:bodyPr vertOverflow="overflow" vert="horz" wrap="square" rtlCol="0" anchor="t">
            <a:noAutofit/>
          </a:bodyPr>
          <a:lstStyle/>
          <a:p>
            <a:pPr algn="l"/>
            <a:r>
              <a:rPr lang="en-US" altLang="zh-CN" sz="1300" i="1" dirty="0">
                <a:solidFill>
                  <a:srgbClr val="6A005F"/>
                </a:solidFill>
              </a:rPr>
              <a:t>Faros AI《AI Engineering Report 2026》</a:t>
            </a:r>
            <a:r>
              <a:rPr lang="zh-CN" altLang="en-US" sz="1300" i="1" dirty="0">
                <a:solidFill>
                  <a:srgbClr val="6A005F"/>
                </a:solidFill>
              </a:rPr>
              <a:t>（遥测 </a:t>
            </a:r>
            <a:r>
              <a:rPr lang="en-US" altLang="zh-CN" sz="1300" i="1" dirty="0">
                <a:solidFill>
                  <a:srgbClr val="6A005F"/>
                </a:solidFill>
              </a:rPr>
              <a:t>2.2 </a:t>
            </a:r>
            <a:r>
              <a:rPr lang="zh-CN" altLang="en-US" sz="1300" i="1" dirty="0">
                <a:solidFill>
                  <a:srgbClr val="6A005F"/>
                </a:solidFill>
              </a:rPr>
              <a:t>万名开发者）：高 </a:t>
            </a:r>
            <a:r>
              <a:rPr lang="en-US" altLang="zh-CN" sz="1300" i="1" dirty="0">
                <a:solidFill>
                  <a:srgbClr val="6A005F"/>
                </a:solidFill>
              </a:rPr>
              <a:t>AI </a:t>
            </a:r>
            <a:r>
              <a:rPr lang="zh-CN" altLang="en-US" sz="1300" i="1" dirty="0">
                <a:solidFill>
                  <a:srgbClr val="6A005F"/>
                </a:solidFill>
              </a:rPr>
              <a:t>采用下，</a:t>
            </a:r>
            <a:r>
              <a:rPr lang="en-US" altLang="zh-CN" sz="1300" i="1" dirty="0">
                <a:solidFill>
                  <a:srgbClr val="6A005F"/>
                </a:solidFill>
              </a:rPr>
              <a:t>PR </a:t>
            </a:r>
            <a:r>
              <a:rPr lang="zh-CN" altLang="en-US" sz="1300" i="1" dirty="0">
                <a:solidFill>
                  <a:srgbClr val="6A005F"/>
                </a:solidFill>
              </a:rPr>
              <a:t>评审中位时长 </a:t>
            </a:r>
            <a:r>
              <a:rPr lang="en-US" altLang="zh-CN" sz="1300" i="1" dirty="0">
                <a:solidFill>
                  <a:srgbClr val="6A005F"/>
                </a:solidFill>
              </a:rPr>
              <a:t>+441% —— </a:t>
            </a:r>
            <a:r>
              <a:rPr lang="zh-CN" altLang="en-US" sz="1300" i="1" dirty="0">
                <a:solidFill>
                  <a:srgbClr val="6A005F"/>
                </a:solidFill>
              </a:rPr>
              <a:t>理论传递的真实工程成本，第一次被看见。</a:t>
            </a:r>
          </a:p>
        </p:txBody>
      </p:sp>
      <p:sp>
        <p:nvSpPr>
          <p:cNvPr id="21" name="椭圆 20">
            <a:extLst>
              <a:ext uri="{FF2B5EF4-FFF2-40B4-BE49-F238E27FC236}">
                <a16:creationId xmlns:a16="http://schemas.microsoft.com/office/drawing/2014/main" id="{9EE0D4CB-BE12-4248-A258-A62A6DDCC8D5}"/>
              </a:ext>
            </a:extLst>
          </p:cNvPr>
          <p:cNvSpPr/>
          <p:nvPr/>
        </p:nvSpPr>
        <p:spPr>
          <a:xfrm>
            <a:off x="1016000" y="3149600"/>
            <a:ext cx="431800" cy="431800"/>
          </a:xfrm>
          <a:prstGeom prst="ellipse">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zh-CN" sz="1600" b="1">
                <a:solidFill>
                  <a:srgbClr val="FFFFFF"/>
                </a:solidFill>
              </a:rPr>
              <a:t>2</a:t>
            </a:r>
            <a:endParaRPr lang="zh-CN" altLang="en-US" sz="1600" b="1">
              <a:solidFill>
                <a:srgbClr val="FFFFFF"/>
              </a:solidFill>
            </a:endParaRPr>
          </a:p>
        </p:txBody>
      </p:sp>
      <p:sp>
        <p:nvSpPr>
          <p:cNvPr id="22" name="文本框 21">
            <a:extLst>
              <a:ext uri="{FF2B5EF4-FFF2-40B4-BE49-F238E27FC236}">
                <a16:creationId xmlns:a16="http://schemas.microsoft.com/office/drawing/2014/main" id="{E456CF6C-249E-C24D-ADC8-B65DB5BED9ED}"/>
              </a:ext>
            </a:extLst>
          </p:cNvPr>
          <p:cNvSpPr txBox="1"/>
          <p:nvPr/>
        </p:nvSpPr>
        <p:spPr>
          <a:xfrm>
            <a:off x="1600200" y="3136900"/>
            <a:ext cx="9753600" cy="304800"/>
          </a:xfrm>
          <a:prstGeom prst="rect">
            <a:avLst/>
          </a:prstGeom>
          <a:noFill/>
        </p:spPr>
        <p:txBody>
          <a:bodyPr vertOverflow="overflow" vert="horz" wrap="square" rtlCol="0" anchor="t">
            <a:noAutofit/>
          </a:bodyPr>
          <a:lstStyle/>
          <a:p>
            <a:pPr algn="l"/>
            <a:r>
              <a:rPr lang="zh-CN" altLang="en-US" sz="1700" b="1">
                <a:solidFill>
                  <a:srgbClr val="6A005F"/>
                </a:solidFill>
              </a:rPr>
              <a:t>显式规格与章程文件（</a:t>
            </a:r>
            <a:r>
              <a:rPr lang="en-US" altLang="zh-CN" sz="1700" b="1">
                <a:solidFill>
                  <a:srgbClr val="6A005F"/>
                </a:solidFill>
              </a:rPr>
              <a:t>spec &amp; constitution</a:t>
            </a:r>
            <a:r>
              <a:rPr lang="zh-CN" altLang="en-US" sz="1700" b="1">
                <a:solidFill>
                  <a:srgbClr val="6A005F"/>
                </a:solidFill>
              </a:rPr>
              <a:t>）</a:t>
            </a:r>
          </a:p>
        </p:txBody>
      </p:sp>
      <p:sp>
        <p:nvSpPr>
          <p:cNvPr id="23" name="文本框 22">
            <a:extLst>
              <a:ext uri="{FF2B5EF4-FFF2-40B4-BE49-F238E27FC236}">
                <a16:creationId xmlns:a16="http://schemas.microsoft.com/office/drawing/2014/main" id="{DB0193DA-A0D8-994A-9608-70FAB941D74C}"/>
              </a:ext>
            </a:extLst>
          </p:cNvPr>
          <p:cNvSpPr txBox="1"/>
          <p:nvPr/>
        </p:nvSpPr>
        <p:spPr>
          <a:xfrm>
            <a:off x="1600200" y="3492500"/>
            <a:ext cx="9753600" cy="1143000"/>
          </a:xfrm>
          <a:prstGeom prst="rect">
            <a:avLst/>
          </a:prstGeom>
          <a:noFill/>
        </p:spPr>
        <p:txBody>
          <a:bodyPr vertOverflow="overflow" vert="horz" wrap="square" rtlCol="0" anchor="t">
            <a:noAutofit/>
          </a:bodyPr>
          <a:lstStyle/>
          <a:p>
            <a:pPr algn="l"/>
            <a:r>
              <a:rPr lang="zh-CN" altLang="en-US" sz="1400" dirty="0">
                <a:solidFill>
                  <a:srgbClr val="3A3A3A"/>
                </a:solidFill>
              </a:rPr>
              <a:t>把「为什么这么做」写入规格、</a:t>
            </a:r>
            <a:r>
              <a:rPr lang="en-US" altLang="zh-CN" sz="1400" dirty="0">
                <a:solidFill>
                  <a:srgbClr val="3A3A3A"/>
                </a:solidFill>
              </a:rPr>
              <a:t>ADR</a:t>
            </a:r>
            <a:r>
              <a:rPr lang="zh-CN" altLang="en-US" sz="1400" dirty="0">
                <a:solidFill>
                  <a:srgbClr val="3A3A3A"/>
                </a:solidFill>
              </a:rPr>
              <a:t>（</a:t>
            </a:r>
            <a:r>
              <a:rPr lang="en-US" altLang="zh-CN" sz="1400" dirty="0">
                <a:solidFill>
                  <a:srgbClr val="3A3A3A"/>
                </a:solidFill>
              </a:rPr>
              <a:t>Architecture Decision Record</a:t>
            </a:r>
            <a:r>
              <a:rPr lang="zh-CN" altLang="en-US" sz="1400" dirty="0">
                <a:solidFill>
                  <a:srgbClr val="3A3A3A"/>
                </a:solidFill>
              </a:rPr>
              <a:t>，架构决策记录）、章程文件（</a:t>
            </a:r>
            <a:r>
              <a:rPr lang="en-US" altLang="zh-CN" sz="1400" dirty="0">
                <a:solidFill>
                  <a:srgbClr val="3A3A3A"/>
                </a:solidFill>
              </a:rPr>
              <a:t>constitution</a:t>
            </a:r>
            <a:r>
              <a:rPr lang="zh-CN" altLang="en-US" sz="1400" dirty="0">
                <a:solidFill>
                  <a:srgbClr val="3A3A3A"/>
                </a:solidFill>
              </a:rPr>
              <a:t>），让智能体工作前先读这份理论。这一步把团队头脑中的心智模型（</a:t>
            </a:r>
            <a:r>
              <a:rPr lang="en-US" altLang="zh-CN" sz="1400" dirty="0">
                <a:solidFill>
                  <a:srgbClr val="3A3A3A"/>
                </a:solidFill>
              </a:rPr>
              <a:t>mental model</a:t>
            </a:r>
            <a:r>
              <a:rPr lang="zh-CN" altLang="en-US" sz="1400" dirty="0">
                <a:solidFill>
                  <a:srgbClr val="3A3A3A"/>
                </a:solidFill>
              </a:rPr>
              <a:t>）显式外化（</a:t>
            </a:r>
            <a:r>
              <a:rPr lang="en-US" altLang="zh-CN" sz="1400" dirty="0">
                <a:solidFill>
                  <a:srgbClr val="3A3A3A"/>
                </a:solidFill>
              </a:rPr>
              <a:t>externalize</a:t>
            </a:r>
            <a:r>
              <a:rPr lang="zh-CN" altLang="en-US" sz="1400" dirty="0">
                <a:solidFill>
                  <a:srgbClr val="3A3A3A"/>
                </a:solidFill>
              </a:rPr>
              <a:t>）为可被智能体与未来工程师共同消费的工程产物。</a:t>
            </a:r>
            <a:r>
              <a:rPr lang="zh-CN" altLang="en-US" sz="1400" b="1" dirty="0">
                <a:solidFill>
                  <a:srgbClr val="6A005F"/>
                </a:solidFill>
              </a:rPr>
              <a:t>但要清醒：</a:t>
            </a:r>
            <a:r>
              <a:rPr lang="zh-CN" altLang="en-US" sz="1400" dirty="0">
                <a:solidFill>
                  <a:srgbClr val="3A3A3A"/>
                </a:solidFill>
              </a:rPr>
              <a:t>文字终究有损，写下来是必要而非充分，替代不了鲜活的理论。</a:t>
            </a:r>
          </a:p>
        </p:txBody>
      </p:sp>
      <p:sp>
        <p:nvSpPr>
          <p:cNvPr id="24" name="椭圆 23">
            <a:extLst>
              <a:ext uri="{FF2B5EF4-FFF2-40B4-BE49-F238E27FC236}">
                <a16:creationId xmlns:a16="http://schemas.microsoft.com/office/drawing/2014/main" id="{7179F927-7961-5045-A856-ACE91CC8D3F7}"/>
              </a:ext>
            </a:extLst>
          </p:cNvPr>
          <p:cNvSpPr/>
          <p:nvPr/>
        </p:nvSpPr>
        <p:spPr>
          <a:xfrm>
            <a:off x="1016000" y="4521200"/>
            <a:ext cx="431800" cy="431800"/>
          </a:xfrm>
          <a:prstGeom prst="ellipse">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zh-CN" sz="1600" b="1">
                <a:solidFill>
                  <a:srgbClr val="FFFFFF"/>
                </a:solidFill>
              </a:rPr>
              <a:t>3</a:t>
            </a:r>
            <a:endParaRPr lang="zh-CN" altLang="en-US" sz="1600" b="1">
              <a:solidFill>
                <a:srgbClr val="FFFFFF"/>
              </a:solidFill>
            </a:endParaRPr>
          </a:p>
        </p:txBody>
      </p:sp>
      <p:sp>
        <p:nvSpPr>
          <p:cNvPr id="25" name="文本框 24">
            <a:extLst>
              <a:ext uri="{FF2B5EF4-FFF2-40B4-BE49-F238E27FC236}">
                <a16:creationId xmlns:a16="http://schemas.microsoft.com/office/drawing/2014/main" id="{04726A6D-B6B0-744A-B73B-2177DC088CB6}"/>
              </a:ext>
            </a:extLst>
          </p:cNvPr>
          <p:cNvSpPr txBox="1"/>
          <p:nvPr/>
        </p:nvSpPr>
        <p:spPr>
          <a:xfrm>
            <a:off x="1600200" y="4508500"/>
            <a:ext cx="9753600" cy="304800"/>
          </a:xfrm>
          <a:prstGeom prst="rect">
            <a:avLst/>
          </a:prstGeom>
          <a:noFill/>
        </p:spPr>
        <p:txBody>
          <a:bodyPr vertOverflow="overflow" vert="horz" wrap="square" rtlCol="0" anchor="t">
            <a:noAutofit/>
          </a:bodyPr>
          <a:lstStyle/>
          <a:p>
            <a:pPr algn="l"/>
            <a:r>
              <a:rPr lang="zh-CN" altLang="en-US" sz="1700" b="1">
                <a:solidFill>
                  <a:srgbClr val="6A005F"/>
                </a:solidFill>
              </a:rPr>
              <a:t>让理解力负债「可见」</a:t>
            </a:r>
            <a:r>
              <a:rPr lang="en-US" altLang="zh-CN" sz="1700" b="1">
                <a:solidFill>
                  <a:srgbClr val="6A005F"/>
                </a:solidFill>
              </a:rPr>
              <a:t>——</a:t>
            </a:r>
            <a:r>
              <a:rPr lang="zh-CN" altLang="en-US" sz="1700" b="1">
                <a:solidFill>
                  <a:srgbClr val="6A005F"/>
                </a:solidFill>
              </a:rPr>
              <a:t>先测量，再偿还</a:t>
            </a:r>
          </a:p>
        </p:txBody>
      </p:sp>
      <p:sp>
        <p:nvSpPr>
          <p:cNvPr id="26" name="文本框 25">
            <a:extLst>
              <a:ext uri="{FF2B5EF4-FFF2-40B4-BE49-F238E27FC236}">
                <a16:creationId xmlns:a16="http://schemas.microsoft.com/office/drawing/2014/main" id="{009C1E16-7ECA-1A49-8104-BD00EA16C17A}"/>
              </a:ext>
            </a:extLst>
          </p:cNvPr>
          <p:cNvSpPr txBox="1"/>
          <p:nvPr/>
        </p:nvSpPr>
        <p:spPr>
          <a:xfrm>
            <a:off x="1600200" y="4864100"/>
            <a:ext cx="9753600" cy="1143000"/>
          </a:xfrm>
          <a:prstGeom prst="rect">
            <a:avLst/>
          </a:prstGeom>
          <a:noFill/>
        </p:spPr>
        <p:txBody>
          <a:bodyPr vertOverflow="overflow" vert="horz" wrap="square" rtlCol="0" anchor="t">
            <a:noAutofit/>
          </a:bodyPr>
          <a:lstStyle/>
          <a:p>
            <a:pPr algn="l"/>
            <a:r>
              <a:rPr lang="zh-CN" altLang="en-US" sz="1400" dirty="0">
                <a:solidFill>
                  <a:srgbClr val="3A3A3A"/>
                </a:solidFill>
              </a:rPr>
              <a:t>理解力负债看不见，所以第一步不是还、而是先找：把它定位出来，再像技术债一样排优先级偿还。两个抓手</a:t>
            </a:r>
            <a:r>
              <a:rPr lang="en-US" altLang="zh-CN" sz="1400" dirty="0">
                <a:solidFill>
                  <a:srgbClr val="3A3A3A"/>
                </a:solidFill>
              </a:rPr>
              <a:t>——</a:t>
            </a:r>
            <a:r>
              <a:rPr lang="zh-CN" altLang="en-US" sz="1400" dirty="0">
                <a:solidFill>
                  <a:srgbClr val="3A3A3A"/>
                </a:solidFill>
              </a:rPr>
              <a:t>一是定期做 </a:t>
            </a:r>
            <a:r>
              <a:rPr lang="en-US" altLang="zh-CN" sz="1400" dirty="0">
                <a:solidFill>
                  <a:srgbClr val="3A3A3A"/>
                </a:solidFill>
              </a:rPr>
              <a:t>system walk</a:t>
            </a:r>
            <a:r>
              <a:rPr lang="zh-CN" altLang="en-US" sz="1400" dirty="0">
                <a:solidFill>
                  <a:srgbClr val="3A3A3A"/>
                </a:solidFill>
              </a:rPr>
              <a:t>：让人沿整条链路追一个请求、逐层讲清「为什么这么写」，谁讲不清，那段就是负债热点；二是在 </a:t>
            </a:r>
            <a:r>
              <a:rPr lang="en-US" altLang="zh-CN" sz="1400" dirty="0">
                <a:solidFill>
                  <a:srgbClr val="3A3A3A"/>
                </a:solidFill>
              </a:rPr>
              <a:t>PR </a:t>
            </a:r>
            <a:r>
              <a:rPr lang="zh-CN" altLang="en-US" sz="1400" dirty="0">
                <a:solidFill>
                  <a:srgbClr val="3A3A3A"/>
                </a:solidFill>
              </a:rPr>
              <a:t>里加一条探针</a:t>
            </a:r>
            <a:r>
              <a:rPr lang="en-US" altLang="zh-CN" sz="1400" dirty="0">
                <a:solidFill>
                  <a:srgbClr val="3A3A3A"/>
                </a:solidFill>
              </a:rPr>
              <a:t>——</a:t>
            </a:r>
            <a:r>
              <a:rPr lang="zh-CN" altLang="en-US" sz="1400" dirty="0">
                <a:solidFill>
                  <a:srgbClr val="3A3A3A"/>
                </a:solidFill>
              </a:rPr>
              <a:t>「不看 </a:t>
            </a:r>
            <a:r>
              <a:rPr lang="en-US" altLang="zh-CN" sz="1400" dirty="0">
                <a:solidFill>
                  <a:srgbClr val="3A3A3A"/>
                </a:solidFill>
              </a:rPr>
              <a:t>AI </a:t>
            </a:r>
            <a:r>
              <a:rPr lang="zh-CN" altLang="en-US" sz="1400" dirty="0">
                <a:solidFill>
                  <a:srgbClr val="3A3A3A"/>
                </a:solidFill>
              </a:rPr>
              <a:t>提示，你能讲清这段代码吗？」答不上来，就是正在新增负债。</a:t>
            </a:r>
          </a:p>
        </p:txBody>
      </p:sp>
    </p:spTree>
    <p:extLst>
      <p:ext uri="{BB962C8B-B14F-4D97-AF65-F5344CB8AC3E}">
        <p14:creationId xmlns:p14="http://schemas.microsoft.com/office/powerpoint/2010/main" val="314236813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CBD77-0472-1041-59ED-840367B8218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F20D91A-E8EE-9790-8CA9-B6D58C5DC60D}"/>
              </a:ext>
            </a:extLst>
          </p:cNvPr>
          <p:cNvSpPr>
            <a:spLocks noGrp="1"/>
          </p:cNvSpPr>
          <p:nvPr>
            <p:ph type="sldNum" sz="quarter" idx="12"/>
          </p:nvPr>
        </p:nvSpPr>
        <p:spPr/>
        <p:txBody>
          <a:bodyPr/>
          <a:lstStyle/>
          <a:p>
            <a:fld id="{51D91E7F-84B6-4064-9D4E-CC7D244BCA04}" type="slidenum">
              <a:rPr lang="zh-CN" altLang="en-US" smtClean="0"/>
              <a:t>14</a:t>
            </a:fld>
            <a:endParaRPr lang="zh-CN" altLang="en-US"/>
          </a:p>
        </p:txBody>
      </p:sp>
      <p:sp>
        <p:nvSpPr>
          <p:cNvPr id="3" name="文本占位符 2">
            <a:extLst>
              <a:ext uri="{FF2B5EF4-FFF2-40B4-BE49-F238E27FC236}">
                <a16:creationId xmlns:a16="http://schemas.microsoft.com/office/drawing/2014/main" id="{7D9C538D-F989-7EED-86B2-579EB1F87D5E}"/>
              </a:ext>
            </a:extLst>
          </p:cNvPr>
          <p:cNvSpPr>
            <a:spLocks noGrp="1"/>
          </p:cNvSpPr>
          <p:nvPr>
            <p:ph type="body" sz="quarter" idx="13"/>
          </p:nvPr>
        </p:nvSpPr>
        <p:spPr/>
        <p:txBody>
          <a:bodyPr/>
          <a:lstStyle/>
          <a:p>
            <a:r>
              <a:rPr lang="en-US" altLang="zh-CN" b="0" i="1" dirty="0"/>
              <a:t>“AI </a:t>
            </a:r>
            <a:r>
              <a:rPr lang="zh-CN" altLang="en-US" b="0" i="1" dirty="0"/>
              <a:t>写代码人需不需要懂？</a:t>
            </a:r>
            <a:r>
              <a:rPr lang="en-US" altLang="zh-CN" b="0" i="1" dirty="0"/>
              <a:t>"</a:t>
            </a:r>
            <a:endParaRPr kumimoji="1" lang="zh-CN" altLang="en-US" dirty="0"/>
          </a:p>
        </p:txBody>
      </p:sp>
      <p:sp>
        <p:nvSpPr>
          <p:cNvPr id="4" name="内容占位符 3">
            <a:extLst>
              <a:ext uri="{FF2B5EF4-FFF2-40B4-BE49-F238E27FC236}">
                <a16:creationId xmlns:a16="http://schemas.microsoft.com/office/drawing/2014/main" id="{B19D7F15-8D68-FFBD-7B65-555B33F2B33D}"/>
              </a:ext>
            </a:extLst>
          </p:cNvPr>
          <p:cNvSpPr>
            <a:spLocks noGrp="1"/>
          </p:cNvSpPr>
          <p:nvPr>
            <p:ph idx="1"/>
          </p:nvPr>
        </p:nvSpPr>
        <p:spPr/>
        <p:txBody>
          <a:bodyPr>
            <a:normAutofit lnSpcReduction="10000"/>
          </a:bodyPr>
          <a:lstStyle/>
          <a:p>
            <a:r>
              <a:rPr lang="zh-CN" altLang="en-US" b="1" dirty="0"/>
              <a:t>行为正确性：</a:t>
            </a:r>
            <a:r>
              <a:rPr lang="zh-CN" altLang="en-US" dirty="0"/>
              <a:t>给定输入产生预期输出。测试 </a:t>
            </a:r>
            <a:r>
              <a:rPr lang="en-US" altLang="zh-CN" dirty="0"/>
              <a:t>/ </a:t>
            </a:r>
            <a:r>
              <a:rPr lang="zh-CN" altLang="en-US" dirty="0"/>
              <a:t>类型 </a:t>
            </a:r>
            <a:r>
              <a:rPr lang="en-US" altLang="zh-CN" dirty="0"/>
              <a:t>/ </a:t>
            </a:r>
            <a:r>
              <a:rPr lang="zh-CN" altLang="en-US" dirty="0"/>
              <a:t>形式化可保证。</a:t>
            </a:r>
            <a:r>
              <a:rPr lang="en-US" altLang="zh-CN" dirty="0"/>
              <a:t>AI </a:t>
            </a:r>
            <a:r>
              <a:rPr lang="zh-CN" altLang="en-US" dirty="0"/>
              <a:t>能独立达标。</a:t>
            </a:r>
            <a:endParaRPr lang="en-US" altLang="zh-CN" dirty="0"/>
          </a:p>
          <a:p>
            <a:r>
              <a:rPr lang="zh-CN" altLang="en-US" b="1" dirty="0">
                <a:solidFill>
                  <a:srgbClr val="FF0000"/>
                </a:solidFill>
              </a:rPr>
              <a:t>因果可解释性：</a:t>
            </a:r>
            <a:r>
              <a:rPr lang="zh-CN" altLang="en-US" dirty="0">
                <a:solidFill>
                  <a:srgbClr val="FF0000"/>
                </a:solidFill>
              </a:rPr>
              <a:t>出错时能否在合理时间定位根因。靠工程师对代码的理解，不是测试。</a:t>
            </a:r>
            <a:endParaRPr lang="en-US" altLang="zh-CN" dirty="0">
              <a:solidFill>
                <a:srgbClr val="FF0000"/>
              </a:solidFill>
            </a:endParaRPr>
          </a:p>
          <a:p>
            <a:r>
              <a:rPr lang="zh-CN" altLang="en-US" b="1" dirty="0">
                <a:solidFill>
                  <a:srgbClr val="FF0000"/>
                </a:solidFill>
              </a:rPr>
              <a:t>变更可控性：</a:t>
            </a:r>
            <a:r>
              <a:rPr lang="zh-CN" altLang="en-US" dirty="0">
                <a:solidFill>
                  <a:srgbClr val="FF0000"/>
                </a:solidFill>
              </a:rPr>
              <a:t>修改 </a:t>
            </a:r>
            <a:r>
              <a:rPr lang="en-US" altLang="zh-CN" dirty="0">
                <a:solidFill>
                  <a:srgbClr val="FF0000"/>
                </a:solidFill>
              </a:rPr>
              <a:t>A </a:t>
            </a:r>
            <a:r>
              <a:rPr lang="zh-CN" altLang="en-US" dirty="0">
                <a:solidFill>
                  <a:srgbClr val="FF0000"/>
                </a:solidFill>
              </a:rPr>
              <a:t>时不会破坏 </a:t>
            </a:r>
            <a:r>
              <a:rPr lang="en-US" altLang="zh-CN" dirty="0">
                <a:solidFill>
                  <a:srgbClr val="FF0000"/>
                </a:solidFill>
              </a:rPr>
              <a:t>B</a:t>
            </a:r>
            <a:r>
              <a:rPr lang="zh-CN" altLang="en-US" dirty="0">
                <a:solidFill>
                  <a:srgbClr val="FF0000"/>
                </a:solidFill>
              </a:rPr>
              <a:t>、</a:t>
            </a:r>
            <a:r>
              <a:rPr lang="en-US" altLang="zh-CN" dirty="0">
                <a:solidFill>
                  <a:srgbClr val="FF0000"/>
                </a:solidFill>
              </a:rPr>
              <a:t>C</a:t>
            </a:r>
            <a:r>
              <a:rPr lang="zh-CN" altLang="en-US" dirty="0">
                <a:solidFill>
                  <a:srgbClr val="FF0000"/>
                </a:solidFill>
              </a:rPr>
              <a:t>、</a:t>
            </a:r>
            <a:r>
              <a:rPr lang="en-US" altLang="zh-CN" dirty="0">
                <a:solidFill>
                  <a:srgbClr val="FF0000"/>
                </a:solidFill>
              </a:rPr>
              <a:t>D</a:t>
            </a:r>
            <a:r>
              <a:rPr lang="zh-CN" altLang="en-US" dirty="0">
                <a:solidFill>
                  <a:srgbClr val="FF0000"/>
                </a:solidFill>
              </a:rPr>
              <a:t>。依赖</a:t>
            </a:r>
            <a:r>
              <a:rPr lang="en-US" altLang="zh-CN" dirty="0">
                <a:solidFill>
                  <a:srgbClr val="FF0000"/>
                </a:solidFill>
              </a:rPr>
              <a:t>"</a:t>
            </a:r>
            <a:r>
              <a:rPr lang="zh-CN" altLang="en-US" dirty="0">
                <a:solidFill>
                  <a:srgbClr val="FF0000"/>
                </a:solidFill>
              </a:rPr>
              <a:t>理论持有</a:t>
            </a:r>
            <a:r>
              <a:rPr lang="en-US" altLang="zh-CN" dirty="0">
                <a:solidFill>
                  <a:srgbClr val="FF0000"/>
                </a:solidFill>
              </a:rPr>
              <a:t>"</a:t>
            </a:r>
            <a:r>
              <a:rPr lang="zh-CN" altLang="en-US" dirty="0">
                <a:solidFill>
                  <a:srgbClr val="FF0000"/>
                </a:solidFill>
              </a:rPr>
              <a:t>，</a:t>
            </a:r>
            <a:r>
              <a:rPr lang="en-US" altLang="zh-CN" dirty="0">
                <a:solidFill>
                  <a:srgbClr val="FF0000"/>
                </a:solidFill>
              </a:rPr>
              <a:t>AI </a:t>
            </a:r>
            <a:r>
              <a:rPr lang="zh-CN" altLang="en-US" dirty="0">
                <a:solidFill>
                  <a:srgbClr val="FF0000"/>
                </a:solidFill>
              </a:rPr>
              <a:t>不持有领域上下文，尤其是隐性知识。</a:t>
            </a:r>
            <a:endParaRPr lang="en-US" altLang="zh-CN" dirty="0">
              <a:solidFill>
                <a:srgbClr val="FF0000"/>
              </a:solidFill>
            </a:endParaRPr>
          </a:p>
          <a:p>
            <a:r>
              <a:rPr lang="zh-CN" altLang="en-US" b="1" dirty="0">
                <a:solidFill>
                  <a:srgbClr val="FF0000"/>
                </a:solidFill>
              </a:rPr>
              <a:t>责任可归属：</a:t>
            </a:r>
            <a:r>
              <a:rPr lang="zh-CN" altLang="en-US" dirty="0">
                <a:solidFill>
                  <a:srgbClr val="FF0000"/>
                </a:solidFill>
              </a:rPr>
              <a:t>出事谁负责、能否合规审计。制度层面，结构上必然要求人在回路。</a:t>
            </a:r>
            <a:endParaRPr kumimoji="1" lang="zh-CN" altLang="en-US" dirty="0">
              <a:solidFill>
                <a:srgbClr val="FF0000"/>
              </a:solidFill>
            </a:endParaRPr>
          </a:p>
        </p:txBody>
      </p:sp>
      <p:sp>
        <p:nvSpPr>
          <p:cNvPr id="5" name="PartQuestion">
            <a:extLst>
              <a:ext uri="{FF2B5EF4-FFF2-40B4-BE49-F238E27FC236}">
                <a16:creationId xmlns:a16="http://schemas.microsoft.com/office/drawing/2014/main" id="{A541DA4A-179E-094C-A069-8889682AFB1E}"/>
              </a:ext>
            </a:extLst>
          </p:cNvPr>
          <p:cNvSpPr txBox="1"/>
          <p:nvPr/>
        </p:nvSpPr>
        <p:spPr>
          <a:xfrm>
            <a:off x="1054100" y="914400"/>
            <a:ext cx="9906000" cy="330200"/>
          </a:xfrm>
          <a:prstGeom prst="rect">
            <a:avLst/>
          </a:prstGeom>
          <a:noFill/>
        </p:spPr>
        <p:txBody>
          <a:bodyPr vertOverflow="overflow" vert="horz" wrap="square" rtlCol="0" anchor="t" anchorCtr="0">
            <a:noAutofit/>
          </a:bodyPr>
          <a:lstStyle/>
          <a:p>
            <a:pPr algn="l"/>
            <a:r>
              <a:rPr lang="zh-CN" altLang="en-US" sz="1500" i="1">
                <a:solidFill>
                  <a:srgbClr val="6A005F"/>
                </a:solidFill>
              </a:rPr>
              <a:t>什么时候必须有人懂、该用哪种模式？</a:t>
            </a:r>
          </a:p>
        </p:txBody>
      </p:sp>
    </p:spTree>
    <p:extLst>
      <p:ext uri="{BB962C8B-B14F-4D97-AF65-F5344CB8AC3E}">
        <p14:creationId xmlns:p14="http://schemas.microsoft.com/office/powerpoint/2010/main" val="13761578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A9F31-36AA-72C4-1250-D18E277084E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C143100-30C2-A19D-7195-E6F15326E484}"/>
              </a:ext>
            </a:extLst>
          </p:cNvPr>
          <p:cNvSpPr>
            <a:spLocks noGrp="1"/>
          </p:cNvSpPr>
          <p:nvPr>
            <p:ph type="sldNum" sz="quarter" idx="12"/>
          </p:nvPr>
        </p:nvSpPr>
        <p:spPr/>
        <p:txBody>
          <a:bodyPr/>
          <a:lstStyle/>
          <a:p>
            <a:fld id="{51D91E7F-84B6-4064-9D4E-CC7D244BCA04}" type="slidenum">
              <a:rPr lang="zh-CN" altLang="en-US" smtClean="0"/>
              <a:t>15</a:t>
            </a:fld>
            <a:endParaRPr lang="zh-CN" altLang="en-US"/>
          </a:p>
        </p:txBody>
      </p:sp>
      <p:sp>
        <p:nvSpPr>
          <p:cNvPr id="3" name="文本占位符 2">
            <a:extLst>
              <a:ext uri="{FF2B5EF4-FFF2-40B4-BE49-F238E27FC236}">
                <a16:creationId xmlns:a16="http://schemas.microsoft.com/office/drawing/2014/main" id="{712405CC-91F9-982A-410C-8CA76B1D3420}"/>
              </a:ext>
            </a:extLst>
          </p:cNvPr>
          <p:cNvSpPr>
            <a:spLocks noGrp="1"/>
          </p:cNvSpPr>
          <p:nvPr>
            <p:ph type="body" sz="quarter" idx="13"/>
          </p:nvPr>
        </p:nvSpPr>
        <p:spPr/>
        <p:txBody>
          <a:bodyPr/>
          <a:lstStyle/>
          <a:p>
            <a:r>
              <a:rPr kumimoji="1" lang="zh-CN" altLang="en-US" dirty="0"/>
              <a:t>可信性预算决策表</a:t>
            </a:r>
          </a:p>
        </p:txBody>
      </p:sp>
      <p:sp>
        <p:nvSpPr>
          <p:cNvPr id="5" name="矩形 4">
            <a:extLst>
              <a:ext uri="{FF2B5EF4-FFF2-40B4-BE49-F238E27FC236}">
                <a16:creationId xmlns:a16="http://schemas.microsoft.com/office/drawing/2014/main" id="{13079095-A1C5-EA4F-BE37-5AED980D9D7F}"/>
              </a:ext>
            </a:extLst>
          </p:cNvPr>
          <p:cNvSpPr/>
          <p:nvPr/>
        </p:nvSpPr>
        <p:spPr>
          <a:xfrm>
            <a:off x="838200" y="1143000"/>
            <a:ext cx="63500" cy="381000"/>
          </a:xfrm>
          <a:prstGeom prst="rect">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6" name="文本框 5">
            <a:extLst>
              <a:ext uri="{FF2B5EF4-FFF2-40B4-BE49-F238E27FC236}">
                <a16:creationId xmlns:a16="http://schemas.microsoft.com/office/drawing/2014/main" id="{D466C800-BB96-6040-A6AE-FCE5658BEE49}"/>
              </a:ext>
            </a:extLst>
          </p:cNvPr>
          <p:cNvSpPr txBox="1"/>
          <p:nvPr/>
        </p:nvSpPr>
        <p:spPr>
          <a:xfrm>
            <a:off x="1066800" y="1066800"/>
            <a:ext cx="10160000" cy="457200"/>
          </a:xfrm>
          <a:prstGeom prst="rect">
            <a:avLst/>
          </a:prstGeom>
          <a:noFill/>
          <a:ln>
            <a:noFill/>
          </a:ln>
        </p:spPr>
        <p:txBody>
          <a:bodyPr vertOverflow="overflow" vert="horz" wrap="square" rtlCol="0" anchor="ctr" anchorCtr="0">
            <a:spAutoFit/>
          </a:bodyPr>
          <a:lstStyle/>
          <a:p>
            <a:pPr algn="l"/>
            <a:r>
              <a:rPr lang="zh-CN" altLang="en-US" i="1">
                <a:solidFill>
                  <a:srgbClr val="555555"/>
                </a:solidFill>
              </a:rPr>
              <a:t>工作模式选择不是个人偏好，而是任务画像的函数。</a:t>
            </a:r>
          </a:p>
        </p:txBody>
      </p:sp>
      <p:sp>
        <p:nvSpPr>
          <p:cNvPr id="7" name="圆角矩形 6">
            <a:extLst>
              <a:ext uri="{FF2B5EF4-FFF2-40B4-BE49-F238E27FC236}">
                <a16:creationId xmlns:a16="http://schemas.microsoft.com/office/drawing/2014/main" id="{1FE6B76C-E347-2E42-9F4F-5B9C6D2D0DC9}"/>
              </a:ext>
            </a:extLst>
          </p:cNvPr>
          <p:cNvSpPr/>
          <p:nvPr/>
        </p:nvSpPr>
        <p:spPr>
          <a:xfrm>
            <a:off x="838200" y="5715000"/>
            <a:ext cx="10515600" cy="736600"/>
          </a:xfrm>
          <a:prstGeom prst="roundRect">
            <a:avLst/>
          </a:prstGeom>
          <a:solidFill>
            <a:srgbClr val="F7EF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8" name="矩形 7">
            <a:extLst>
              <a:ext uri="{FF2B5EF4-FFF2-40B4-BE49-F238E27FC236}">
                <a16:creationId xmlns:a16="http://schemas.microsoft.com/office/drawing/2014/main" id="{47D6D5EB-1A46-E643-B668-BDCF87D26A08}"/>
              </a:ext>
            </a:extLst>
          </p:cNvPr>
          <p:cNvSpPr/>
          <p:nvPr/>
        </p:nvSpPr>
        <p:spPr>
          <a:xfrm>
            <a:off x="838200" y="5715000"/>
            <a:ext cx="76200" cy="736600"/>
          </a:xfrm>
          <a:prstGeom prst="rect">
            <a:avLst/>
          </a:prstGeom>
          <a:solidFill>
            <a:srgbClr val="C8651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9" name="文本框 8">
            <a:extLst>
              <a:ext uri="{FF2B5EF4-FFF2-40B4-BE49-F238E27FC236}">
                <a16:creationId xmlns:a16="http://schemas.microsoft.com/office/drawing/2014/main" id="{C2D49E5D-1164-E647-9F91-EBF224469953}"/>
              </a:ext>
            </a:extLst>
          </p:cNvPr>
          <p:cNvSpPr txBox="1"/>
          <p:nvPr/>
        </p:nvSpPr>
        <p:spPr>
          <a:xfrm>
            <a:off x="1143000" y="5715000"/>
            <a:ext cx="10033000" cy="736600"/>
          </a:xfrm>
          <a:prstGeom prst="rect">
            <a:avLst/>
          </a:prstGeom>
          <a:noFill/>
          <a:ln>
            <a:noFill/>
          </a:ln>
        </p:spPr>
        <p:txBody>
          <a:bodyPr vertOverflow="overflow" vert="horz" wrap="square" rtlCol="0" anchor="ctr" anchorCtr="0">
            <a:spAutoFit/>
          </a:bodyPr>
          <a:lstStyle/>
          <a:p>
            <a:pPr algn="l"/>
            <a:r>
              <a:rPr lang="zh-CN" altLang="en-US" sz="1600" b="1">
                <a:solidFill>
                  <a:srgbClr val="C8651B"/>
                </a:solidFill>
              </a:rPr>
              <a:t>读法：</a:t>
            </a:r>
            <a:r>
              <a:rPr lang="zh-CN" altLang="en-US" sz="1600">
                <a:solidFill>
                  <a:srgbClr val="3A3A3A"/>
                </a:solidFill>
              </a:rPr>
              <a:t>同一名工程师在同一天里，会在表格不同行之间切换。</a:t>
            </a:r>
          </a:p>
        </p:txBody>
      </p:sp>
      <p:graphicFrame>
        <p:nvGraphicFramePr>
          <p:cNvPr id="11" name="表格 10">
            <a:extLst>
              <a:ext uri="{FF2B5EF4-FFF2-40B4-BE49-F238E27FC236}">
                <a16:creationId xmlns:a16="http://schemas.microsoft.com/office/drawing/2014/main" id="{9C5E704F-3499-074A-8B50-747150709FD2}"/>
              </a:ext>
            </a:extLst>
          </p:cNvPr>
          <p:cNvGraphicFramePr>
            <a:graphicFrameLocks noGrp="1"/>
          </p:cNvGraphicFramePr>
          <p:nvPr/>
        </p:nvGraphicFramePr>
        <p:xfrm>
          <a:off x="838200" y="2108200"/>
          <a:ext cx="10515600" cy="34544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098972350"/>
                    </a:ext>
                  </a:extLst>
                </a:gridCol>
                <a:gridCol w="1219200">
                  <a:extLst>
                    <a:ext uri="{9D8B030D-6E8A-4147-A177-3AD203B41FA5}">
                      <a16:colId xmlns:a16="http://schemas.microsoft.com/office/drawing/2014/main" val="1386856072"/>
                    </a:ext>
                  </a:extLst>
                </a:gridCol>
                <a:gridCol w="1371600">
                  <a:extLst>
                    <a:ext uri="{9D8B030D-6E8A-4147-A177-3AD203B41FA5}">
                      <a16:colId xmlns:a16="http://schemas.microsoft.com/office/drawing/2014/main" val="1824857264"/>
                    </a:ext>
                  </a:extLst>
                </a:gridCol>
                <a:gridCol w="1219200">
                  <a:extLst>
                    <a:ext uri="{9D8B030D-6E8A-4147-A177-3AD203B41FA5}">
                      <a16:colId xmlns:a16="http://schemas.microsoft.com/office/drawing/2014/main" val="3356166253"/>
                    </a:ext>
                  </a:extLst>
                </a:gridCol>
                <a:gridCol w="1371600">
                  <a:extLst>
                    <a:ext uri="{9D8B030D-6E8A-4147-A177-3AD203B41FA5}">
                      <a16:colId xmlns:a16="http://schemas.microsoft.com/office/drawing/2014/main" val="261635239"/>
                    </a:ext>
                  </a:extLst>
                </a:gridCol>
                <a:gridCol w="2540000">
                  <a:extLst>
                    <a:ext uri="{9D8B030D-6E8A-4147-A177-3AD203B41FA5}">
                      <a16:colId xmlns:a16="http://schemas.microsoft.com/office/drawing/2014/main" val="1601274759"/>
                    </a:ext>
                  </a:extLst>
                </a:gridCol>
              </a:tblGrid>
              <a:tr h="533400">
                <a:tc>
                  <a:txBody>
                    <a:bodyPr/>
                    <a:lstStyle/>
                    <a:p>
                      <a:pPr algn="l"/>
                      <a:r>
                        <a:rPr lang="zh-CN" altLang="en-US" sz="1500" b="1">
                          <a:solidFill>
                            <a:srgbClr val="6A005F"/>
                          </a:solidFill>
                        </a:rPr>
                        <a:t>任务类型</a:t>
                      </a:r>
                    </a:p>
                  </a:txBody>
                  <a:tcPr anchor="ctr">
                    <a:solidFill>
                      <a:srgbClr val="EFE9F6"/>
                    </a:solidFill>
                  </a:tcPr>
                </a:tc>
                <a:tc>
                  <a:txBody>
                    <a:bodyPr/>
                    <a:lstStyle/>
                    <a:p>
                      <a:pPr algn="ctr"/>
                      <a:r>
                        <a:rPr lang="zh-CN" altLang="en-US" sz="1500" b="1">
                          <a:solidFill>
                            <a:srgbClr val="6A005F"/>
                          </a:solidFill>
                        </a:rPr>
                        <a:t>行为正确</a:t>
                      </a:r>
                    </a:p>
                  </a:txBody>
                  <a:tcPr anchor="ctr">
                    <a:solidFill>
                      <a:srgbClr val="EFE9F6"/>
                    </a:solidFill>
                  </a:tcPr>
                </a:tc>
                <a:tc>
                  <a:txBody>
                    <a:bodyPr/>
                    <a:lstStyle/>
                    <a:p>
                      <a:pPr algn="ctr"/>
                      <a:r>
                        <a:rPr lang="zh-CN" altLang="en-US" sz="1500" b="1">
                          <a:solidFill>
                            <a:srgbClr val="6A005F"/>
                          </a:solidFill>
                        </a:rPr>
                        <a:t>因果可解释</a:t>
                      </a:r>
                    </a:p>
                  </a:txBody>
                  <a:tcPr anchor="ctr">
                    <a:solidFill>
                      <a:srgbClr val="EFE9F6"/>
                    </a:solidFill>
                  </a:tcPr>
                </a:tc>
                <a:tc>
                  <a:txBody>
                    <a:bodyPr/>
                    <a:lstStyle/>
                    <a:p>
                      <a:pPr algn="ctr"/>
                      <a:r>
                        <a:rPr lang="zh-CN" altLang="en-US" sz="1500" b="1">
                          <a:solidFill>
                            <a:srgbClr val="6A005F"/>
                          </a:solidFill>
                        </a:rPr>
                        <a:t>变更可控</a:t>
                      </a:r>
                    </a:p>
                  </a:txBody>
                  <a:tcPr anchor="ctr">
                    <a:solidFill>
                      <a:srgbClr val="EFE9F6"/>
                    </a:solidFill>
                  </a:tcPr>
                </a:tc>
                <a:tc>
                  <a:txBody>
                    <a:bodyPr/>
                    <a:lstStyle/>
                    <a:p>
                      <a:pPr algn="ctr"/>
                      <a:r>
                        <a:rPr lang="zh-CN" altLang="en-US" sz="1500" b="1">
                          <a:solidFill>
                            <a:srgbClr val="6A005F"/>
                          </a:solidFill>
                        </a:rPr>
                        <a:t>责任可归属</a:t>
                      </a:r>
                    </a:p>
                  </a:txBody>
                  <a:tcPr anchor="ctr">
                    <a:solidFill>
                      <a:srgbClr val="EFE9F6"/>
                    </a:solidFill>
                  </a:tcPr>
                </a:tc>
                <a:tc>
                  <a:txBody>
                    <a:bodyPr/>
                    <a:lstStyle/>
                    <a:p>
                      <a:pPr algn="ctr"/>
                      <a:r>
                        <a:rPr lang="zh-CN" altLang="en-US" sz="1500" b="1">
                          <a:solidFill>
                            <a:srgbClr val="6A005F"/>
                          </a:solidFill>
                        </a:rPr>
                        <a:t>推荐工作模式</a:t>
                      </a:r>
                    </a:p>
                  </a:txBody>
                  <a:tcPr anchor="ctr">
                    <a:solidFill>
                      <a:srgbClr val="EFE9F6"/>
                    </a:solidFill>
                  </a:tcPr>
                </a:tc>
                <a:extLst>
                  <a:ext uri="{0D108BD9-81ED-4DB2-BD59-A6C34878D82A}">
                    <a16:rowId xmlns:a16="http://schemas.microsoft.com/office/drawing/2014/main" val="421855112"/>
                  </a:ext>
                </a:extLst>
              </a:tr>
              <a:tr h="584200">
                <a:tc>
                  <a:txBody>
                    <a:bodyPr/>
                    <a:lstStyle/>
                    <a:p>
                      <a:pPr algn="l"/>
                      <a:r>
                        <a:rPr lang="zh-CN" altLang="en-US" sz="1500" b="1">
                          <a:solidFill>
                            <a:srgbClr val="2A2A2A"/>
                          </a:solidFill>
                        </a:rPr>
                        <a:t>一次性工具 / 探索 demo</a:t>
                      </a:r>
                    </a:p>
                  </a:txBody>
                  <a:tcPr anchor="ctr">
                    <a:solidFill>
                      <a:srgbClr val="FFFFFF"/>
                    </a:solidFill>
                  </a:tcPr>
                </a:tc>
                <a:tc>
                  <a:txBody>
                    <a:bodyPr/>
                    <a:lstStyle/>
                    <a:p>
                      <a:pPr algn="ctr"/>
                      <a:r>
                        <a:rPr lang="zh-CN" altLang="en-US" sz="1500">
                          <a:solidFill>
                            <a:srgbClr val="444444"/>
                          </a:solidFill>
                        </a:rPr>
                        <a:t>低</a:t>
                      </a:r>
                    </a:p>
                  </a:txBody>
                  <a:tcPr anchor="ctr">
                    <a:solidFill>
                      <a:srgbClr val="FFFFFF"/>
                    </a:solidFill>
                  </a:tcPr>
                </a:tc>
                <a:tc>
                  <a:txBody>
                    <a:bodyPr/>
                    <a:lstStyle/>
                    <a:p>
                      <a:pPr algn="ctr"/>
                      <a:r>
                        <a:rPr lang="zh-CN" altLang="en-US" sz="1500">
                          <a:solidFill>
                            <a:srgbClr val="444444"/>
                          </a:solidFill>
                        </a:rPr>
                        <a:t>—</a:t>
                      </a:r>
                    </a:p>
                  </a:txBody>
                  <a:tcPr anchor="ctr">
                    <a:solidFill>
                      <a:srgbClr val="FFFFFF"/>
                    </a:solidFill>
                  </a:tcPr>
                </a:tc>
                <a:tc>
                  <a:txBody>
                    <a:bodyPr/>
                    <a:lstStyle/>
                    <a:p>
                      <a:pPr algn="ctr"/>
                      <a:r>
                        <a:rPr lang="zh-CN" altLang="en-US" sz="1500">
                          <a:solidFill>
                            <a:srgbClr val="444444"/>
                          </a:solidFill>
                        </a:rPr>
                        <a:t>—</a:t>
                      </a:r>
                    </a:p>
                  </a:txBody>
                  <a:tcPr anchor="ctr">
                    <a:solidFill>
                      <a:srgbClr val="FFFFFF"/>
                    </a:solidFill>
                  </a:tcPr>
                </a:tc>
                <a:tc>
                  <a:txBody>
                    <a:bodyPr/>
                    <a:lstStyle/>
                    <a:p>
                      <a:pPr algn="ctr"/>
                      <a:r>
                        <a:rPr lang="zh-CN" altLang="en-US" sz="1500">
                          <a:solidFill>
                            <a:srgbClr val="444444"/>
                          </a:solidFill>
                        </a:rPr>
                        <a:t>—</a:t>
                      </a:r>
                    </a:p>
                  </a:txBody>
                  <a:tcPr anchor="ctr">
                    <a:solidFill>
                      <a:srgbClr val="FFFFFF"/>
                    </a:solidFill>
                  </a:tcPr>
                </a:tc>
                <a:tc>
                  <a:txBody>
                    <a:bodyPr/>
                    <a:lstStyle/>
                    <a:p>
                      <a:pPr algn="ctr"/>
                      <a:r>
                        <a:rPr lang="zh-CN" altLang="en-US" sz="1500" b="1">
                          <a:solidFill>
                            <a:srgbClr val="C0367A"/>
                          </a:solidFill>
                        </a:rPr>
                        <a:t>Vibe Coding</a:t>
                      </a:r>
                    </a:p>
                  </a:txBody>
                  <a:tcPr anchor="ctr">
                    <a:solidFill>
                      <a:srgbClr val="FBE9EF"/>
                    </a:solidFill>
                  </a:tcPr>
                </a:tc>
                <a:extLst>
                  <a:ext uri="{0D108BD9-81ED-4DB2-BD59-A6C34878D82A}">
                    <a16:rowId xmlns:a16="http://schemas.microsoft.com/office/drawing/2014/main" val="3713877122"/>
                  </a:ext>
                </a:extLst>
              </a:tr>
              <a:tr h="584200">
                <a:tc>
                  <a:txBody>
                    <a:bodyPr/>
                    <a:lstStyle/>
                    <a:p>
                      <a:pPr algn="l"/>
                      <a:r>
                        <a:rPr lang="zh-CN" altLang="en-US" sz="1500" b="1">
                          <a:solidFill>
                            <a:srgbClr val="2A2A2A"/>
                          </a:solidFill>
                        </a:rPr>
                        <a:t>长期维护的内部工具</a:t>
                      </a:r>
                    </a:p>
                  </a:txBody>
                  <a:tcPr anchor="ctr">
                    <a:solidFill>
                      <a:srgbClr val="FFFFFF"/>
                    </a:solidFill>
                  </a:tcPr>
                </a:tc>
                <a:tc>
                  <a:txBody>
                    <a:bodyPr/>
                    <a:lstStyle/>
                    <a:p>
                      <a:pPr algn="ctr"/>
                      <a:r>
                        <a:rPr lang="zh-CN" altLang="en-US" sz="1500">
                          <a:solidFill>
                            <a:srgbClr val="444444"/>
                          </a:solidFill>
                        </a:rPr>
                        <a:t>中</a:t>
                      </a:r>
                    </a:p>
                  </a:txBody>
                  <a:tcPr anchor="ctr">
                    <a:solidFill>
                      <a:srgbClr val="FFFFFF"/>
                    </a:solidFill>
                  </a:tcPr>
                </a:tc>
                <a:tc>
                  <a:txBody>
                    <a:bodyPr/>
                    <a:lstStyle/>
                    <a:p>
                      <a:pPr algn="ctr"/>
                      <a:r>
                        <a:rPr lang="zh-CN" altLang="en-US" sz="1500">
                          <a:solidFill>
                            <a:srgbClr val="444444"/>
                          </a:solidFill>
                        </a:rPr>
                        <a:t>中</a:t>
                      </a:r>
                    </a:p>
                  </a:txBody>
                  <a:tcPr anchor="ctr">
                    <a:solidFill>
                      <a:srgbClr val="FFFFFF"/>
                    </a:solidFill>
                  </a:tcPr>
                </a:tc>
                <a:tc>
                  <a:txBody>
                    <a:bodyPr/>
                    <a:lstStyle/>
                    <a:p>
                      <a:pPr algn="ctr"/>
                      <a:r>
                        <a:rPr lang="zh-CN" altLang="en-US" sz="1500">
                          <a:solidFill>
                            <a:srgbClr val="444444"/>
                          </a:solidFill>
                        </a:rPr>
                        <a:t>中</a:t>
                      </a:r>
                    </a:p>
                  </a:txBody>
                  <a:tcPr anchor="ctr">
                    <a:solidFill>
                      <a:srgbClr val="FFFFFF"/>
                    </a:solidFill>
                  </a:tcPr>
                </a:tc>
                <a:tc>
                  <a:txBody>
                    <a:bodyPr/>
                    <a:lstStyle/>
                    <a:p>
                      <a:pPr algn="ctr"/>
                      <a:r>
                        <a:rPr lang="zh-CN" altLang="en-US" sz="1500">
                          <a:solidFill>
                            <a:srgbClr val="444444"/>
                          </a:solidFill>
                        </a:rPr>
                        <a:t>低</a:t>
                      </a:r>
                    </a:p>
                  </a:txBody>
                  <a:tcPr anchor="ctr">
                    <a:solidFill>
                      <a:srgbClr val="FFFFFF"/>
                    </a:solidFill>
                  </a:tcPr>
                </a:tc>
                <a:tc>
                  <a:txBody>
                    <a:bodyPr/>
                    <a:lstStyle/>
                    <a:p>
                      <a:pPr algn="ctr"/>
                      <a:r>
                        <a:rPr lang="zh-CN" altLang="en-US" sz="1500" b="1">
                          <a:solidFill>
                            <a:srgbClr val="6A005F"/>
                          </a:solidFill>
                        </a:rPr>
                        <a:t>Agentic（轻量）</a:t>
                      </a:r>
                    </a:p>
                  </a:txBody>
                  <a:tcPr anchor="ctr">
                    <a:solidFill>
                      <a:srgbClr val="ECE3F4"/>
                    </a:solidFill>
                  </a:tcPr>
                </a:tc>
                <a:extLst>
                  <a:ext uri="{0D108BD9-81ED-4DB2-BD59-A6C34878D82A}">
                    <a16:rowId xmlns:a16="http://schemas.microsoft.com/office/drawing/2014/main" val="2984538183"/>
                  </a:ext>
                </a:extLst>
              </a:tr>
              <a:tr h="584200">
                <a:tc>
                  <a:txBody>
                    <a:bodyPr/>
                    <a:lstStyle/>
                    <a:p>
                      <a:pPr algn="l"/>
                      <a:r>
                        <a:rPr lang="zh-CN" altLang="en-US" sz="1500" b="1" dirty="0">
                          <a:solidFill>
                            <a:srgbClr val="2A2A2A"/>
                          </a:solidFill>
                        </a:rPr>
                        <a:t>面向用户的生产功能</a:t>
                      </a:r>
                    </a:p>
                  </a:txBody>
                  <a:tcPr anchor="ctr">
                    <a:solidFill>
                      <a:srgbClr val="FFFFFF"/>
                    </a:solidFill>
                  </a:tcPr>
                </a:tc>
                <a:tc>
                  <a:txBody>
                    <a:bodyPr/>
                    <a:lstStyle/>
                    <a:p>
                      <a:pPr algn="ctr"/>
                      <a:r>
                        <a:rPr lang="zh-CN" altLang="en-US" sz="1500">
                          <a:solidFill>
                            <a:srgbClr val="444444"/>
                          </a:solidFill>
                        </a:rPr>
                        <a:t>高</a:t>
                      </a:r>
                    </a:p>
                  </a:txBody>
                  <a:tcPr anchor="ctr">
                    <a:solidFill>
                      <a:srgbClr val="FFFFFF"/>
                    </a:solidFill>
                  </a:tcPr>
                </a:tc>
                <a:tc>
                  <a:txBody>
                    <a:bodyPr/>
                    <a:lstStyle/>
                    <a:p>
                      <a:pPr algn="ctr"/>
                      <a:r>
                        <a:rPr lang="zh-CN" altLang="en-US" sz="1500">
                          <a:solidFill>
                            <a:srgbClr val="444444"/>
                          </a:solidFill>
                        </a:rPr>
                        <a:t>高</a:t>
                      </a:r>
                    </a:p>
                  </a:txBody>
                  <a:tcPr anchor="ctr">
                    <a:solidFill>
                      <a:srgbClr val="FFFFFF"/>
                    </a:solidFill>
                  </a:tcPr>
                </a:tc>
                <a:tc>
                  <a:txBody>
                    <a:bodyPr/>
                    <a:lstStyle/>
                    <a:p>
                      <a:pPr algn="ctr"/>
                      <a:r>
                        <a:rPr lang="zh-CN" altLang="en-US" sz="1500">
                          <a:solidFill>
                            <a:srgbClr val="444444"/>
                          </a:solidFill>
                        </a:rPr>
                        <a:t>高</a:t>
                      </a:r>
                    </a:p>
                  </a:txBody>
                  <a:tcPr anchor="ctr">
                    <a:solidFill>
                      <a:srgbClr val="FFFFFF"/>
                    </a:solidFill>
                  </a:tcPr>
                </a:tc>
                <a:tc>
                  <a:txBody>
                    <a:bodyPr/>
                    <a:lstStyle/>
                    <a:p>
                      <a:pPr algn="ctr"/>
                      <a:r>
                        <a:rPr lang="zh-CN" altLang="en-US" sz="1500">
                          <a:solidFill>
                            <a:srgbClr val="444444"/>
                          </a:solidFill>
                        </a:rPr>
                        <a:t>中</a:t>
                      </a:r>
                    </a:p>
                  </a:txBody>
                  <a:tcPr anchor="ctr">
                    <a:solidFill>
                      <a:srgbClr val="FFFFFF"/>
                    </a:solidFill>
                  </a:tcPr>
                </a:tc>
                <a:tc>
                  <a:txBody>
                    <a:bodyPr/>
                    <a:lstStyle/>
                    <a:p>
                      <a:pPr algn="ctr"/>
                      <a:r>
                        <a:rPr lang="zh-CN" altLang="en-US" sz="1500" b="1">
                          <a:solidFill>
                            <a:srgbClr val="6A005F"/>
                          </a:solidFill>
                        </a:rPr>
                        <a:t>Agentic（标准）</a:t>
                      </a:r>
                    </a:p>
                  </a:txBody>
                  <a:tcPr anchor="ctr">
                    <a:solidFill>
                      <a:srgbClr val="ECE3F4"/>
                    </a:solidFill>
                  </a:tcPr>
                </a:tc>
                <a:extLst>
                  <a:ext uri="{0D108BD9-81ED-4DB2-BD59-A6C34878D82A}">
                    <a16:rowId xmlns:a16="http://schemas.microsoft.com/office/drawing/2014/main" val="3540474484"/>
                  </a:ext>
                </a:extLst>
              </a:tr>
              <a:tr h="584200">
                <a:tc>
                  <a:txBody>
                    <a:bodyPr/>
                    <a:lstStyle/>
                    <a:p>
                      <a:pPr algn="l"/>
                      <a:r>
                        <a:rPr lang="zh-CN" altLang="en-US" sz="1500" b="1">
                          <a:solidFill>
                            <a:srgbClr val="2A2A2A"/>
                          </a:solidFill>
                        </a:rPr>
                        <a:t>安全关键 / 合规代码</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b="1">
                          <a:solidFill>
                            <a:srgbClr val="2E7D32"/>
                          </a:solidFill>
                        </a:rPr>
                        <a:t>Agentic + 手工核心</a:t>
                      </a:r>
                    </a:p>
                  </a:txBody>
                  <a:tcPr anchor="ctr">
                    <a:solidFill>
                      <a:srgbClr val="E7F2E7"/>
                    </a:solidFill>
                  </a:tcPr>
                </a:tc>
                <a:extLst>
                  <a:ext uri="{0D108BD9-81ED-4DB2-BD59-A6C34878D82A}">
                    <a16:rowId xmlns:a16="http://schemas.microsoft.com/office/drawing/2014/main" val="563904670"/>
                  </a:ext>
                </a:extLst>
              </a:tr>
              <a:tr h="584200">
                <a:tc>
                  <a:txBody>
                    <a:bodyPr/>
                    <a:lstStyle/>
                    <a:p>
                      <a:pPr algn="l"/>
                      <a:r>
                        <a:rPr lang="zh-CN" altLang="en-US" sz="1500" b="1">
                          <a:solidFill>
                            <a:srgbClr val="2A2A2A"/>
                          </a:solidFill>
                        </a:rPr>
                        <a:t>核心抽象（OS/DB/…）</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a:solidFill>
                            <a:srgbClr val="444444"/>
                          </a:solidFill>
                        </a:rPr>
                        <a:t>极高</a:t>
                      </a:r>
                    </a:p>
                  </a:txBody>
                  <a:tcPr anchor="ctr">
                    <a:solidFill>
                      <a:srgbClr val="FFFFFF"/>
                    </a:solidFill>
                  </a:tcPr>
                </a:tc>
                <a:tc>
                  <a:txBody>
                    <a:bodyPr/>
                    <a:lstStyle/>
                    <a:p>
                      <a:pPr algn="ctr"/>
                      <a:r>
                        <a:rPr lang="zh-CN" altLang="en-US" sz="1500" b="1" dirty="0">
                          <a:solidFill>
                            <a:srgbClr val="2E7D32"/>
                          </a:solidFill>
                        </a:rPr>
                        <a:t>手工编程（1%）</a:t>
                      </a:r>
                    </a:p>
                  </a:txBody>
                  <a:tcPr anchor="ctr">
                    <a:solidFill>
                      <a:srgbClr val="E7F2E7"/>
                    </a:solidFill>
                  </a:tcPr>
                </a:tc>
                <a:extLst>
                  <a:ext uri="{0D108BD9-81ED-4DB2-BD59-A6C34878D82A}">
                    <a16:rowId xmlns:a16="http://schemas.microsoft.com/office/drawing/2014/main" val="1566670942"/>
                  </a:ext>
                </a:extLst>
              </a:tr>
            </a:tbl>
          </a:graphicData>
        </a:graphic>
      </p:graphicFrame>
    </p:spTree>
    <p:extLst>
      <p:ext uri="{BB962C8B-B14F-4D97-AF65-F5344CB8AC3E}">
        <p14:creationId xmlns:p14="http://schemas.microsoft.com/office/powerpoint/2010/main" val="27206393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extLst>
      <p:ext uri="{BB962C8B-B14F-4D97-AF65-F5344CB8AC3E}">
        <p14:creationId xmlns:p14="http://schemas.microsoft.com/office/powerpoint/2010/main" val="29622127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DFA88F-B9C7-7D4E-B175-52E8C36D8E77}">
  <we:reference id="wa200010001" version="1.0.0.1" store="zh-CN" storeType="OMEX"/>
  <we:alternateReferences>
    <we:reference id="WA200010001" version="1.0.0.1" store="" storeType="OMEX"/>
  </we:alternateReferences>
  <we:properties>
    <we:property name="claude.fileId" value="&quot;0e1cd753-12d2-4e83-b56f-a8dc0bb3686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主题</Template>
  <TotalTime>281</TotalTime>
  <Words>8761</Words>
  <Application>Microsoft Macintosh PowerPoint</Application>
  <PresentationFormat>宽屏</PresentationFormat>
  <Paragraphs>183</Paragraphs>
  <Slides>17</Slides>
  <Notes>17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等线</vt:lpstr>
      <vt:lpstr>Source Han Serif SC SemiBold</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 Shao</dc:creator>
  <dc:description>第一PPT模板网-WWW.1PPT.COM</dc:description>
  <cp:lastModifiedBy>Dong Shao</cp:lastModifiedBy>
  <cp:revision>53</cp:revision>
  <dcterms:created xsi:type="dcterms:W3CDTF">2026-06-24T06:18:21Z</dcterms:created>
  <dcterms:modified xsi:type="dcterms:W3CDTF">2026-07-03T14:05:13Z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2052-4.1.1.6613</vt:lpwstr>
  </property>
</Properties>
</file>